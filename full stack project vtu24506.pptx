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71" r:id="rId7"/>
    <p:sldId id="261" r:id="rId8"/>
    <p:sldId id="262" r:id="rId9"/>
    <p:sldId id="263" r:id="rId10"/>
    <p:sldId id="264" r:id="rId11"/>
    <p:sldId id="272" r:id="rId12"/>
    <p:sldId id="266" r:id="rId13"/>
    <p:sldId id="273" r:id="rId14"/>
    <p:sldId id="274" r:id="rId15"/>
    <p:sldId id="275" r:id="rId16"/>
    <p:sldId id="276" r:id="rId17"/>
    <p:sldId id="269" r:id="rId18"/>
    <p:sldId id="267" r:id="rId19"/>
    <p:sldId id="270" r:id="rId20"/>
    <p:sldId id="265" r:id="rId21"/>
  </p:sldIdLst>
  <p:sldSz cx="18288000" cy="10287000"/>
  <p:notesSz cx="6858000" cy="9144000"/>
  <p:embeddedFontLst>
    <p:embeddedFont>
      <p:font typeface="Bookman Old Style" panose="02050604050505020204" pitchFamily="18" charset="0"/>
      <p:regular r:id="rId22"/>
      <p:bold r:id="rId23"/>
      <p:italic r:id="rId24"/>
      <p:boldItalic r:id="rId25"/>
    </p:embeddedFont>
    <p:embeddedFont>
      <p:font typeface="Cambria" panose="02040503050406030204" pitchFamily="18" charset="0"/>
      <p:regular r:id="rId26"/>
      <p:bold r:id="rId27"/>
      <p:italic r:id="rId28"/>
      <p:boldItalic r:id="rId29"/>
    </p:embeddedFont>
    <p:embeddedFont>
      <p:font typeface="Gotham" panose="020B0604020202020204" charset="0"/>
      <p:regular r:id="rId30"/>
    </p:embeddedFont>
    <p:embeddedFont>
      <p:font typeface="Gotham Bold Italics"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595B58-5548-456B-9941-9E9625ECA77F}" v="1537" dt="2026-03-01T10:46:07.7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8" d="100"/>
          <a:sy n="48" d="100"/>
        </p:scale>
        <p:origin x="29"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DD-MM-YYYY</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646331"/>
          </a:xfrm>
          <a:prstGeom prst="rect">
            <a:avLst/>
          </a:prstGeom>
          <a:noFill/>
        </p:spPr>
        <p:txBody>
          <a:bodyPr wrap="square" lIns="91440" tIns="45720" rIns="91440" bIns="45720" rtlCol="0" anchor="t">
            <a:spAutoFit/>
          </a:bodyPr>
          <a:lstStyle/>
          <a:p>
            <a:pPr algn="ctr"/>
            <a:r>
              <a:rPr lang="en-US" sz="3600" b="1" dirty="0">
                <a:solidFill>
                  <a:srgbClr val="0033CC"/>
                </a:solidFill>
                <a:latin typeface="Times New Roman"/>
                <a:ea typeface="Calibri"/>
                <a:cs typeface="Times New Roman"/>
              </a:rPr>
              <a:t>Full-Stack</a:t>
            </a:r>
            <a:r>
              <a:rPr lang="en-US" sz="3600" b="1" dirty="0">
                <a:solidFill>
                  <a:srgbClr val="0033CC"/>
                </a:solidFill>
                <a:latin typeface="Times New Roman"/>
                <a:ea typeface="+mn-lt"/>
                <a:cs typeface="Times New Roman"/>
              </a:rPr>
              <a:t> Skill Learning Academy Marketplace with Secure Authentication</a:t>
            </a:r>
            <a:endParaRPr lang="en-IN" sz="3600" b="1">
              <a:solidFill>
                <a:srgbClr val="0033CC"/>
              </a:solidFill>
              <a:latin typeface="Times New Roman"/>
              <a:cs typeface="Times New Roman"/>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lIns="91440" tIns="45720" rIns="91440" bIns="45720" rtlCol="0" anchor="t">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a:ea typeface="Cambria"/>
              </a:rPr>
              <a:t>NISHANTH G – VTU24506 – 23UECS1155.</a:t>
            </a:r>
            <a:endParaRPr lang="en-IN" sz="3000" dirty="0">
              <a:latin typeface="Cambria"/>
              <a:ea typeface="Cambria"/>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9132712" y="7808289"/>
            <a:ext cx="8726926" cy="1391663"/>
          </a:xfrm>
          <a:prstGeom prst="rect">
            <a:avLst/>
          </a:prstGeom>
          <a:noFill/>
        </p:spPr>
        <p:txBody>
          <a:bodyPr wrap="square" lIns="91440" tIns="45720" rIns="91440" bIns="45720" rtlCol="0" anchor="t">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a:ea typeface="Cambria"/>
              </a:rPr>
              <a:t>Dr. K. SEETHA LAKSHMI – ASSOCIATE PROFESSOR</a:t>
            </a:r>
            <a:endParaRPr lang="en-US" sz="3000" dirty="0">
              <a:latin typeface="Cambria" panose="02040503050406030204" pitchFamily="18" charset="0"/>
              <a:ea typeface="Cambria" panose="02040503050406030204" pitchFamily="18" charset="0"/>
              <a:cs typeface="Roboto"/>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189205" y="6972300"/>
            <a:ext cx="14743170" cy="461665"/>
          </a:xfrm>
          <a:prstGeom prst="rect">
            <a:avLst/>
          </a:prstGeom>
          <a:noFill/>
        </p:spPr>
        <p:txBody>
          <a:bodyPr wrap="square" lIns="91440" tIns="45720" rIns="91440" bIns="45720" rtlCol="0" anchor="t">
            <a:spAutoFit/>
          </a:bodyPr>
          <a:lstStyle/>
          <a:p>
            <a:r>
              <a:rPr lang="en-US" sz="2000" b="1" dirty="0">
                <a:latin typeface="Cambria"/>
                <a:ea typeface="Cambria"/>
              </a:rPr>
              <a:t>                             </a:t>
            </a:r>
            <a:r>
              <a:rPr lang="en-US" sz="2400" b="1" dirty="0">
                <a:latin typeface="Cambria"/>
                <a:ea typeface="Cambria"/>
              </a:rPr>
              <a:t>SDG</a:t>
            </a:r>
            <a:r>
              <a:rPr lang="en-US" sz="2000" b="1" dirty="0">
                <a:latin typeface="Cambria"/>
                <a:ea typeface="Cambria"/>
              </a:rPr>
              <a:t> :  </a:t>
            </a:r>
            <a:r>
              <a:rPr lang="en-US" sz="2400" dirty="0">
                <a:latin typeface="Times New Roman"/>
                <a:ea typeface="+mn-lt"/>
                <a:cs typeface="Times New Roman"/>
              </a:rPr>
              <a:t>SDG 4 – Quality Education and SDG 8 – Decent Work and Economic Growth </a:t>
            </a:r>
            <a:endParaRPr lang="en-IN" sz="2400" b="1">
              <a:latin typeface="Times New Roman"/>
              <a:ea typeface="Cambria" panose="02040503050406030204" pitchFamily="18" charset="0"/>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890584" y="1401463"/>
            <a:ext cx="15072028" cy="14742497"/>
          </a:xfrm>
          <a:prstGeom prst="rect">
            <a:avLst/>
          </a:prstGeom>
          <a:noFill/>
        </p:spPr>
        <p:txBody>
          <a:bodyPr wrap="square" lIns="91440" tIns="45720" rIns="91440" bIns="45720" rtlCol="0" anchor="t">
            <a:spAutoFit/>
          </a:bodyPr>
          <a:lstStyle/>
          <a:p>
            <a:pPr marL="457200" indent="-457200" algn="just">
              <a:buFont typeface="Arial"/>
              <a:buChar char="•"/>
            </a:pPr>
            <a:r>
              <a:rPr lang="en-US" sz="2800" dirty="0">
                <a:latin typeface="Times New Roman"/>
                <a:ea typeface="+mn-lt"/>
                <a:cs typeface="Times New Roman"/>
              </a:rPr>
              <a:t>The rapid growth of digital education has increased the demand for structured and intelligent learning platforms.</a:t>
            </a:r>
            <a:endParaRPr lang="en-US" sz="2800" dirty="0">
              <a:latin typeface="Times New Roman"/>
              <a:ea typeface="Calibri"/>
              <a:cs typeface="Times New Roman"/>
            </a:endParaRPr>
          </a:p>
          <a:p>
            <a:pPr algn="just"/>
            <a:endParaRPr lang="en-US" sz="2800" dirty="0">
              <a:latin typeface="Times New Roman"/>
              <a:ea typeface="+mn-lt"/>
              <a:cs typeface="Times New Roman"/>
            </a:endParaRPr>
          </a:p>
          <a:p>
            <a:pPr marL="457200" indent="-457200" algn="just">
              <a:buFont typeface="Arial"/>
              <a:buChar char="•"/>
            </a:pPr>
            <a:r>
              <a:rPr lang="en-US" sz="2800" dirty="0">
                <a:latin typeface="Times New Roman"/>
                <a:ea typeface="+mn-lt"/>
                <a:cs typeface="Times New Roman"/>
              </a:rPr>
              <a:t>Traditional Learning Management Systems often lack personalization, automated enrollment workflows, and data-driven insights.</a:t>
            </a:r>
            <a:endParaRPr lang="en-US" sz="2800" dirty="0">
              <a:latin typeface="Times New Roman"/>
              <a:ea typeface="Calibri"/>
              <a:cs typeface="Times New Roman"/>
            </a:endParaRPr>
          </a:p>
          <a:p>
            <a:pPr algn="just"/>
            <a:endParaRPr lang="en-US" sz="2800" dirty="0">
              <a:latin typeface="Times New Roman"/>
              <a:ea typeface="+mn-lt"/>
              <a:cs typeface="Times New Roman"/>
            </a:endParaRPr>
          </a:p>
          <a:p>
            <a:pPr marL="457200" indent="-457200" algn="just">
              <a:buFont typeface="Arial"/>
              <a:buChar char="•"/>
            </a:pPr>
            <a:r>
              <a:rPr lang="en-US" sz="2800" dirty="0">
                <a:latin typeface="Times New Roman"/>
                <a:ea typeface="+mn-lt"/>
                <a:cs typeface="Times New Roman"/>
              </a:rPr>
              <a:t>Manual course management and limited progress tracking reduce overall learning efficiency.</a:t>
            </a:r>
          </a:p>
          <a:p>
            <a:pPr algn="just"/>
            <a:endParaRPr lang="en-US" sz="2800" dirty="0">
              <a:latin typeface="Times New Roman"/>
              <a:ea typeface="+mn-lt"/>
              <a:cs typeface="Times New Roman"/>
            </a:endParaRPr>
          </a:p>
          <a:p>
            <a:pPr marL="457200" indent="-457200" algn="just">
              <a:buFont typeface="Arial"/>
              <a:buChar char="•"/>
            </a:pPr>
            <a:r>
              <a:rPr lang="en-US" sz="2800" dirty="0">
                <a:latin typeface="Times New Roman"/>
                <a:ea typeface="+mn-lt"/>
                <a:cs typeface="Times New Roman"/>
              </a:rPr>
              <a:t>To address these challenges, this project proposes </a:t>
            </a:r>
            <a:r>
              <a:rPr lang="en-US" sz="2800" b="1" dirty="0">
                <a:latin typeface="Times New Roman"/>
                <a:ea typeface="+mn-lt"/>
                <a:cs typeface="Times New Roman"/>
              </a:rPr>
              <a:t>Skill Academy AI</a:t>
            </a:r>
            <a:r>
              <a:rPr lang="en-US" sz="2800" dirty="0">
                <a:latin typeface="Times New Roman"/>
                <a:ea typeface="+mn-lt"/>
                <a:cs typeface="Times New Roman"/>
              </a:rPr>
              <a:t>, an AI-powered Smart Learning Management System.</a:t>
            </a:r>
          </a:p>
          <a:p>
            <a:pPr algn="just"/>
            <a:endParaRPr lang="en-US" sz="2800" dirty="0">
              <a:latin typeface="Times New Roman"/>
              <a:ea typeface="+mn-lt"/>
              <a:cs typeface="Times New Roman"/>
            </a:endParaRPr>
          </a:p>
          <a:p>
            <a:pPr marL="457200" indent="-457200" algn="just">
              <a:buFont typeface="Arial"/>
              <a:buChar char="•"/>
            </a:pPr>
            <a:r>
              <a:rPr lang="en-US" sz="2800" dirty="0">
                <a:latin typeface="Times New Roman"/>
                <a:ea typeface="+mn-lt"/>
                <a:cs typeface="Times New Roman"/>
              </a:rPr>
              <a:t>The system implements secure role-based access for students and instructors.</a:t>
            </a:r>
          </a:p>
          <a:p>
            <a:pPr algn="just"/>
            <a:endParaRPr lang="en-US" sz="2800" dirty="0">
              <a:latin typeface="Times New Roman"/>
              <a:ea typeface="+mn-lt"/>
              <a:cs typeface="Times New Roman"/>
            </a:endParaRPr>
          </a:p>
          <a:p>
            <a:pPr marL="457200" indent="-457200" algn="just">
              <a:buFont typeface="Arial"/>
              <a:buChar char="•"/>
            </a:pPr>
            <a:r>
              <a:rPr lang="en-US" sz="2800" dirty="0">
                <a:latin typeface="Times New Roman"/>
                <a:ea typeface="+mn-lt"/>
                <a:cs typeface="Times New Roman"/>
              </a:rPr>
              <a:t>It enables structured course management, controlled enrollment approval, and real-time progress monitoring.</a:t>
            </a:r>
          </a:p>
          <a:p>
            <a:pPr algn="just"/>
            <a:endParaRPr lang="en-US" sz="2800" dirty="0">
              <a:latin typeface="Times New Roman"/>
              <a:ea typeface="+mn-lt"/>
              <a:cs typeface="Times New Roman"/>
            </a:endParaRPr>
          </a:p>
          <a:p>
            <a:pPr marL="457200" indent="-457200" algn="just">
              <a:buFont typeface="Arial"/>
              <a:buChar char="•"/>
            </a:pPr>
            <a:r>
              <a:rPr lang="en-US" sz="2800" dirty="0">
                <a:latin typeface="Times New Roman"/>
                <a:ea typeface="+mn-lt"/>
                <a:cs typeface="Times New Roman"/>
              </a:rPr>
              <a:t>AI-based recommendation modules are designed to enhance personalized learning experiences.</a:t>
            </a:r>
          </a:p>
          <a:p>
            <a:pPr algn="just"/>
            <a:endParaRPr lang="en-US" sz="2800" dirty="0">
              <a:latin typeface="Times New Roman"/>
              <a:ea typeface="+mn-lt"/>
              <a:cs typeface="Times New Roman"/>
            </a:endParaRPr>
          </a:p>
          <a:p>
            <a:pPr marL="457200" indent="-457200" algn="just">
              <a:buFont typeface="Arial"/>
              <a:buChar char="•"/>
            </a:pPr>
            <a:r>
              <a:rPr lang="en-US" sz="2800" dirty="0">
                <a:latin typeface="Times New Roman"/>
                <a:ea typeface="+mn-lt"/>
                <a:cs typeface="Times New Roman"/>
              </a:rPr>
              <a:t>The platform aims to improve efficiency, accessibility, and overall quality in digital education environments.</a:t>
            </a:r>
            <a:endParaRPr lang="en-US" sz="2800">
              <a:latin typeface="Times New Roman"/>
              <a:ea typeface="Calibri"/>
              <a:cs typeface="Times New Roman"/>
            </a:endParaRPr>
          </a:p>
          <a:p>
            <a:pPr marL="457200" indent="-457200">
              <a:buFont typeface="Arial"/>
              <a:buChar char="•"/>
            </a:pPr>
            <a:endParaRPr lang="en-US" sz="2800" dirty="0">
              <a:latin typeface="Times New Roman"/>
              <a:ea typeface="Calibri"/>
              <a:cs typeface="Times New Roman"/>
            </a:endParaRPr>
          </a:p>
          <a:p>
            <a:pPr marL="457200" indent="-457200">
              <a:buFont typeface="Arial"/>
              <a:buChar char="•"/>
            </a:pPr>
            <a:endParaRPr lang="en-US" sz="2800" dirty="0">
              <a:latin typeface="Times New Roman"/>
              <a:ea typeface="Calibri"/>
              <a:cs typeface="Times New Roman"/>
            </a:endParaRPr>
          </a:p>
          <a:p>
            <a:pPr marL="457200" indent="-457200">
              <a:buFont typeface="Arial"/>
              <a:buChar char="•"/>
            </a:pPr>
            <a:endParaRPr lang="en-US" sz="2800" dirty="0">
              <a:latin typeface="Times New Roman"/>
              <a:ea typeface="Calibri"/>
              <a:cs typeface="Times New Roman"/>
            </a:endParaRPr>
          </a:p>
          <a:p>
            <a:pPr marL="457200" indent="-457200">
              <a:buFont typeface="Arial"/>
              <a:buChar char="•"/>
            </a:pPr>
            <a:endParaRPr lang="en-US" sz="2800" dirty="0">
              <a:latin typeface="Times New Roman"/>
              <a:ea typeface="Calibri"/>
              <a:cs typeface="Times New Roman"/>
            </a:endParaRPr>
          </a:p>
          <a:p>
            <a:pPr marL="457200" indent="-457200">
              <a:buFont typeface="Arial"/>
              <a:buChar char="•"/>
            </a:pPr>
            <a:endParaRPr lang="en-US" sz="2800" dirty="0">
              <a:latin typeface="Times New Roman"/>
              <a:ea typeface="Calibri"/>
              <a:cs typeface="Times New Roman"/>
            </a:endParaRPr>
          </a:p>
          <a:p>
            <a:pPr marL="457200" indent="-457200">
              <a:buFont typeface="Arial"/>
              <a:buChar char="•"/>
            </a:pPr>
            <a:endParaRPr lang="en-US" sz="2800" dirty="0">
              <a:latin typeface="Times New Roman"/>
              <a:ea typeface="Calibri"/>
              <a:cs typeface="Times New Roman"/>
            </a:endParaRPr>
          </a:p>
          <a:p>
            <a:pPr marL="457200" indent="-457200">
              <a:buFont typeface="Arial"/>
              <a:buChar char="•"/>
            </a:pPr>
            <a:endParaRPr lang="en-US" sz="2800" dirty="0">
              <a:latin typeface="Times New Roman"/>
              <a:ea typeface="Calibri"/>
              <a:cs typeface="Times New Roman"/>
            </a:endParaRPr>
          </a:p>
          <a:p>
            <a:pPr marL="457200" indent="-457200">
              <a:buFont typeface="Arial"/>
              <a:buChar char="•"/>
            </a:pPr>
            <a:endParaRPr lang="en-US" sz="2800" dirty="0">
              <a:latin typeface="Times New Roman"/>
              <a:ea typeface="Calibri"/>
              <a:cs typeface="Times New Roman"/>
            </a:endParaRPr>
          </a:p>
          <a:p>
            <a:pPr marL="457200" indent="-457200">
              <a:buFont typeface="Arial"/>
              <a:buChar char="•"/>
            </a:pPr>
            <a:endParaRPr lang="en-US" sz="2800" dirty="0">
              <a:latin typeface="Times New Roman"/>
              <a:ea typeface="Calibri"/>
              <a:cs typeface="Times New Roman"/>
            </a:endParaRPr>
          </a:p>
          <a:p>
            <a:pPr marL="457200" indent="-457200">
              <a:buFont typeface="Arial"/>
              <a:buChar char="•"/>
            </a:pPr>
            <a:endParaRPr lang="en-US" sz="2800" dirty="0">
              <a:latin typeface="Times New Roman"/>
              <a:ea typeface="Calibri"/>
              <a:cs typeface="Times New Roman"/>
            </a:endParaRPr>
          </a:p>
          <a:p>
            <a:pPr marL="457200" indent="-457200">
              <a:buFont typeface="Arial"/>
              <a:buChar char="•"/>
            </a:pPr>
            <a:endParaRPr lang="en-US" sz="2800" dirty="0">
              <a:latin typeface="Times New Roman"/>
              <a:ea typeface="Calibri"/>
              <a:cs typeface="Times New Roman"/>
            </a:endParaRPr>
          </a:p>
          <a:p>
            <a:pPr marL="457200" indent="-457200">
              <a:buFont typeface="Arial"/>
              <a:buChar char="•"/>
            </a:pPr>
            <a:endParaRPr lang="en-US" sz="2800" dirty="0">
              <a:latin typeface="Times New Roman"/>
              <a:ea typeface="Calibri"/>
              <a:cs typeface="Times New Roman"/>
            </a:endParaRPr>
          </a:p>
          <a:p>
            <a:pPr marL="457200" indent="-457200">
              <a:buFont typeface="Arial"/>
              <a:buChar char="•"/>
            </a:pPr>
            <a:endParaRPr lang="en-US" sz="2800" dirty="0">
              <a:latin typeface="Times New Roman"/>
              <a:ea typeface="Calibri"/>
              <a:cs typeface="Times New Roman"/>
            </a:endParaRPr>
          </a:p>
          <a:p>
            <a:pPr marL="457200" indent="-457200">
              <a:buFont typeface="Arial"/>
              <a:buChar char="•"/>
            </a:pPr>
            <a:endParaRPr lang="en-IN" sz="2800" dirty="0">
              <a:latin typeface="Times New Roman"/>
              <a:ea typeface="Calibri"/>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93589" y="49735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343665" y="1535327"/>
            <a:ext cx="15082325" cy="14150027"/>
          </a:xfrm>
          <a:prstGeom prst="rect">
            <a:avLst/>
          </a:prstGeom>
          <a:noFill/>
        </p:spPr>
        <p:txBody>
          <a:bodyPr wrap="square" lIns="91440" tIns="45720" rIns="91440" bIns="45720" rtlCol="0" anchor="t">
            <a:spAutoFit/>
          </a:bodyPr>
          <a:lstStyle/>
          <a:p>
            <a:pPr marL="457200" indent="-457200" algn="just">
              <a:lnSpc>
                <a:spcPct val="150000"/>
              </a:lnSpc>
              <a:buFont typeface="Arial"/>
              <a:buChar char="•"/>
            </a:pPr>
            <a:r>
              <a:rPr lang="en-US" sz="2900" dirty="0">
                <a:latin typeface="Times New Roman"/>
                <a:ea typeface="+mn-lt"/>
                <a:cs typeface="Times New Roman"/>
              </a:rPr>
              <a:t>Existing learning management systems often lack intelligent personalization and structured automation.</a:t>
            </a:r>
            <a:endParaRPr lang="en-US" sz="2900" dirty="0">
              <a:ea typeface="Calibri"/>
              <a:cs typeface="Calibri"/>
            </a:endParaRPr>
          </a:p>
          <a:p>
            <a:pPr marL="457200" indent="-457200" algn="just">
              <a:lnSpc>
                <a:spcPct val="150000"/>
              </a:lnSpc>
              <a:buFont typeface="Arial"/>
              <a:buChar char="•"/>
            </a:pPr>
            <a:r>
              <a:rPr lang="en-US" sz="2900" dirty="0">
                <a:latin typeface="Times New Roman"/>
                <a:ea typeface="+mn-lt"/>
                <a:cs typeface="Times New Roman"/>
              </a:rPr>
              <a:t>Manual enrollment handling and course management processes lead to inefficiencies and delays.</a:t>
            </a:r>
          </a:p>
          <a:p>
            <a:pPr marL="457200" indent="-457200" algn="just">
              <a:lnSpc>
                <a:spcPct val="150000"/>
              </a:lnSpc>
              <a:buFont typeface="Arial"/>
              <a:buChar char="•"/>
            </a:pPr>
            <a:r>
              <a:rPr lang="en-US" sz="2900" dirty="0">
                <a:latin typeface="Times New Roman"/>
                <a:ea typeface="+mn-lt"/>
                <a:cs typeface="Times New Roman"/>
              </a:rPr>
              <a:t>Many platforms do not provide real-time progress tracking and performance insights.</a:t>
            </a:r>
          </a:p>
          <a:p>
            <a:pPr marL="457200" indent="-457200" algn="just">
              <a:lnSpc>
                <a:spcPct val="150000"/>
              </a:lnSpc>
              <a:buFont typeface="Arial"/>
              <a:buChar char="•"/>
            </a:pPr>
            <a:r>
              <a:rPr lang="en-US" sz="2900" dirty="0">
                <a:latin typeface="Times New Roman"/>
                <a:ea typeface="+mn-lt"/>
                <a:cs typeface="Times New Roman"/>
              </a:rPr>
              <a:t>Students face difficulty in identifying relevant courses aligned with their interests and skill levels.</a:t>
            </a:r>
          </a:p>
          <a:p>
            <a:pPr marL="457200" indent="-457200" algn="just">
              <a:lnSpc>
                <a:spcPct val="150000"/>
              </a:lnSpc>
              <a:buFont typeface="Arial"/>
              <a:buChar char="•"/>
            </a:pPr>
            <a:r>
              <a:rPr lang="en-US" sz="2900" dirty="0">
                <a:latin typeface="Times New Roman"/>
                <a:ea typeface="+mn-lt"/>
                <a:cs typeface="Times New Roman"/>
              </a:rPr>
              <a:t>Instructors lack centralized tools to efficiently manage course approvals and analytics.</a:t>
            </a:r>
          </a:p>
          <a:p>
            <a:pPr marL="457200" indent="-457200" algn="just">
              <a:lnSpc>
                <a:spcPct val="150000"/>
              </a:lnSpc>
              <a:buFont typeface="Arial"/>
              <a:buChar char="•"/>
            </a:pPr>
            <a:r>
              <a:rPr lang="en-US" sz="2900" dirty="0">
                <a:latin typeface="Times New Roman"/>
                <a:ea typeface="+mn-lt"/>
                <a:cs typeface="Times New Roman"/>
              </a:rPr>
              <a:t>Limited integration of AI technologies reduces the effectiveness of modern digital learning environments.</a:t>
            </a:r>
          </a:p>
          <a:p>
            <a:pPr marL="457200" indent="-457200" algn="just">
              <a:lnSpc>
                <a:spcPct val="150000"/>
              </a:lnSpc>
              <a:buFont typeface="Arial"/>
              <a:buChar char="•"/>
            </a:pPr>
            <a:r>
              <a:rPr lang="en-US" sz="2900" dirty="0">
                <a:latin typeface="Times New Roman"/>
                <a:ea typeface="+mn-lt"/>
                <a:cs typeface="Times New Roman"/>
              </a:rPr>
              <a:t>There is a need for a secure, automated, and intelligent LMS to enhance learning outcomes.</a:t>
            </a:r>
          </a:p>
          <a:p>
            <a:pPr marL="457200" indent="-457200" algn="just">
              <a:lnSpc>
                <a:spcPct val="150000"/>
              </a:lnSpc>
              <a:buFont typeface="Arial"/>
              <a:buChar char="•"/>
            </a:pPr>
            <a:r>
              <a:rPr lang="en-US" sz="2900" dirty="0">
                <a:latin typeface="Times New Roman"/>
                <a:ea typeface="+mn-lt"/>
                <a:cs typeface="Times New Roman"/>
              </a:rPr>
              <a:t>Hence, an AI-powered Smart Learning Management System is proposed to address these limitations.</a:t>
            </a:r>
            <a:endParaRPr lang="en-US" sz="2900" dirty="0">
              <a:latin typeface="Times New Roman"/>
              <a:ea typeface="Calibri"/>
              <a:cs typeface="Times New Roman"/>
            </a:endParaRPr>
          </a:p>
          <a:p>
            <a:pPr marL="457200" indent="-457200">
              <a:buFont typeface="Arial"/>
              <a:buChar char="•"/>
            </a:pPr>
            <a:endParaRPr lang="en-US" sz="2900" dirty="0">
              <a:ea typeface="Calibri"/>
              <a:cs typeface="Calibri"/>
            </a:endParaRPr>
          </a:p>
          <a:p>
            <a:pPr marL="457200" indent="-457200">
              <a:buFont typeface="Arial"/>
              <a:buChar char="•"/>
            </a:pPr>
            <a:endParaRPr lang="en-US" sz="2900" dirty="0">
              <a:ea typeface="Calibri"/>
              <a:cs typeface="Calibri"/>
            </a:endParaRPr>
          </a:p>
          <a:p>
            <a:pPr marL="457200" indent="-457200">
              <a:buFont typeface="Arial"/>
              <a:buChar char="•"/>
            </a:pPr>
            <a:endParaRPr lang="en-US" sz="2900" dirty="0">
              <a:ea typeface="Calibri"/>
              <a:cs typeface="Calibri"/>
            </a:endParaRPr>
          </a:p>
          <a:p>
            <a:pPr marL="457200" indent="-457200">
              <a:buFont typeface="Arial"/>
              <a:buChar char="•"/>
            </a:pPr>
            <a:endParaRPr lang="en-US" sz="2900" dirty="0">
              <a:ea typeface="Calibri"/>
              <a:cs typeface="Calibri"/>
            </a:endParaRPr>
          </a:p>
          <a:p>
            <a:pPr marL="457200" indent="-457200">
              <a:buFont typeface="Arial"/>
              <a:buChar char="•"/>
            </a:pPr>
            <a:endParaRPr lang="en-US" sz="2900" dirty="0">
              <a:ea typeface="Calibri"/>
              <a:cs typeface="Calibri"/>
            </a:endParaRPr>
          </a:p>
          <a:p>
            <a:pPr marL="457200" indent="-457200">
              <a:buFont typeface="Arial"/>
              <a:buChar char="•"/>
            </a:pPr>
            <a:endParaRPr lang="en-US" sz="2900" dirty="0">
              <a:ea typeface="Calibri"/>
              <a:cs typeface="Calibri"/>
            </a:endParaRPr>
          </a:p>
          <a:p>
            <a:pPr marL="457200" indent="-457200">
              <a:buFont typeface="Arial"/>
              <a:buChar char="•"/>
            </a:pPr>
            <a:endParaRPr lang="en-US" sz="2900" dirty="0">
              <a:ea typeface="Calibri"/>
              <a:cs typeface="Calibri"/>
            </a:endParaRPr>
          </a:p>
          <a:p>
            <a:pPr marL="457200" indent="-457200">
              <a:buFont typeface="Arial"/>
              <a:buChar char="•"/>
            </a:pPr>
            <a:endParaRPr lang="en-US" sz="2900" dirty="0">
              <a:ea typeface="Calibri"/>
              <a:cs typeface="Calibri"/>
            </a:endParaRPr>
          </a:p>
          <a:p>
            <a:pPr marL="457200" indent="-457200">
              <a:buFont typeface="Arial"/>
              <a:buChar char="•"/>
            </a:pPr>
            <a:endParaRPr lang="en-US" sz="2900" dirty="0">
              <a:ea typeface="Calibri"/>
              <a:cs typeface="Calibri"/>
            </a:endParaRPr>
          </a:p>
          <a:p>
            <a:pPr marL="457200" indent="-457200">
              <a:buFont typeface="Arial"/>
              <a:buChar char="•"/>
            </a:pPr>
            <a:endParaRPr lang="en-US" sz="2900" dirty="0">
              <a:ea typeface="Calibri"/>
              <a:cs typeface="Calibri"/>
            </a:endParaRPr>
          </a:p>
          <a:p>
            <a:pPr marL="457200" indent="-457200">
              <a:buFont typeface="Arial"/>
              <a:buChar char="•"/>
            </a:pPr>
            <a:endParaRPr lang="en-US" sz="2900" dirty="0">
              <a:ea typeface="Calibri"/>
              <a:cs typeface="Calibri"/>
            </a:endParaRPr>
          </a:p>
          <a:p>
            <a:pPr marL="457200" indent="-457200">
              <a:buFont typeface="Arial"/>
              <a:buChar char="•"/>
            </a:pPr>
            <a:endParaRPr lang="en-US" sz="2900" dirty="0">
              <a:ea typeface="Calibri"/>
              <a:cs typeface="Calibri"/>
            </a:endParaRPr>
          </a:p>
          <a:p>
            <a:pPr marL="457200" indent="-457200">
              <a:buFont typeface="Arial"/>
              <a:buChar char="•"/>
            </a:pPr>
            <a:endParaRPr lang="en-US" sz="2900" dirty="0">
              <a:ea typeface="Calibri"/>
              <a:cs typeface="Calibri"/>
            </a:endParaRPr>
          </a:p>
          <a:p>
            <a:pPr marL="457200" indent="-457200">
              <a:buFont typeface="Arial"/>
              <a:buChar char="•"/>
            </a:pPr>
            <a:endParaRPr lang="en-US" sz="2900" dirty="0">
              <a:ea typeface="Calibri"/>
              <a:cs typeface="Calibri"/>
            </a:endParaRPr>
          </a:p>
          <a:p>
            <a:pPr marL="457200" indent="-457200">
              <a:buFont typeface="Arial"/>
              <a:buChar char="•"/>
            </a:pPr>
            <a:endParaRPr lang="en-IN" sz="2900" dirty="0">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199503" y="1978111"/>
            <a:ext cx="15072028" cy="8710077"/>
          </a:xfrm>
          <a:prstGeom prst="rect">
            <a:avLst/>
          </a:prstGeom>
          <a:noFill/>
        </p:spPr>
        <p:txBody>
          <a:bodyPr wrap="square" lIns="91440" tIns="45720" rIns="91440" bIns="45720" rtlCol="0" anchor="t">
            <a:spAutoFit/>
          </a:bodyPr>
          <a:lstStyle/>
          <a:p>
            <a:pPr marL="457200" algn="just">
              <a:lnSpc>
                <a:spcPct val="150000"/>
              </a:lnSpc>
              <a:buFont typeface="Arial"/>
              <a:buChar char="•"/>
            </a:pPr>
            <a:r>
              <a:rPr lang="en-US" sz="3200" dirty="0">
                <a:latin typeface="Times New Roman"/>
                <a:ea typeface="+mn-lt"/>
                <a:cs typeface="Times New Roman"/>
              </a:rPr>
              <a:t>To design and develop an AI-powered Smart Learning Management System that provides secure role-based authentication, structured course management, and an automated enrollment approval workflow for students and instructors.</a:t>
            </a:r>
            <a:endParaRPr lang="en-US" sz="3200">
              <a:latin typeface="Times New Roman"/>
              <a:cs typeface="Times New Roman"/>
            </a:endParaRPr>
          </a:p>
          <a:p>
            <a:pPr algn="just">
              <a:lnSpc>
                <a:spcPct val="150000"/>
              </a:lnSpc>
            </a:pPr>
            <a:endParaRPr lang="en-US" sz="3200" dirty="0">
              <a:latin typeface="Times New Roman"/>
              <a:ea typeface="+mn-lt"/>
              <a:cs typeface="Times New Roman"/>
            </a:endParaRPr>
          </a:p>
          <a:p>
            <a:pPr marL="457200" algn="just">
              <a:lnSpc>
                <a:spcPct val="150000"/>
              </a:lnSpc>
              <a:buFont typeface="Arial"/>
              <a:buChar char="•"/>
            </a:pPr>
            <a:r>
              <a:rPr lang="en-US" sz="3200" dirty="0">
                <a:latin typeface="Times New Roman"/>
                <a:ea typeface="+mn-lt"/>
                <a:cs typeface="Times New Roman"/>
              </a:rPr>
              <a:t>To implement AI-based course recommendation modules and real-time progress tracking mechanisms to enhance personalized learning, improve academic performance monitoring, and increase overall system efficiency.</a:t>
            </a:r>
            <a:endParaRPr lang="en-US" sz="3200" dirty="0">
              <a:latin typeface="Times New Roman"/>
              <a:ea typeface="Calibri"/>
              <a:cs typeface="Times New Roman"/>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ea typeface="Calibri"/>
              <a:cs typeface="Calibri"/>
            </a:endParaRPr>
          </a:p>
          <a:p>
            <a:pPr marL="457200" indent="-457200">
              <a:buFontTx/>
              <a:buChar char="-"/>
            </a:pPr>
            <a:endParaRPr lang="en-IN" sz="2800" dirty="0">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1054627"/>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189205" y="1803057"/>
            <a:ext cx="15082325" cy="6678751"/>
          </a:xfrm>
          <a:prstGeom prst="rect">
            <a:avLst/>
          </a:prstGeom>
          <a:noFill/>
        </p:spPr>
        <p:txBody>
          <a:bodyPr wrap="square" lIns="91440" tIns="45720" rIns="91440" bIns="45720" rtlCol="0" anchor="t">
            <a:spAutoFit/>
          </a:bodyPr>
          <a:lstStyle/>
          <a:p>
            <a:pPr algn="just"/>
            <a:r>
              <a:rPr lang="en-US" sz="3400" b="1" dirty="0">
                <a:latin typeface="Times New Roman"/>
                <a:ea typeface="Calibri"/>
                <a:cs typeface="Times New Roman"/>
              </a:rPr>
              <a:t>1. Description of the Proposed System :</a:t>
            </a:r>
            <a:endParaRPr lang="en-US" sz="3400" dirty="0">
              <a:latin typeface="Times New Roman"/>
              <a:ea typeface="Calibri"/>
              <a:cs typeface="Times New Roman"/>
            </a:endParaRPr>
          </a:p>
          <a:p>
            <a:pPr algn="just"/>
            <a:endParaRPr lang="en-US" sz="3200" b="1" dirty="0">
              <a:latin typeface="Times New Roman"/>
              <a:ea typeface="+mn-lt"/>
              <a:cs typeface="Times New Roman"/>
            </a:endParaRPr>
          </a:p>
          <a:p>
            <a:pPr marL="457200" algn="just">
              <a:lnSpc>
                <a:spcPct val="150000"/>
              </a:lnSpc>
              <a:buFont typeface="Arial"/>
              <a:buChar char="•"/>
            </a:pPr>
            <a:r>
              <a:rPr lang="en-US" sz="3200" dirty="0">
                <a:latin typeface="Times New Roman"/>
                <a:ea typeface="+mn-lt"/>
                <a:cs typeface="Times New Roman"/>
              </a:rPr>
              <a:t> The proposed system, </a:t>
            </a:r>
            <a:r>
              <a:rPr lang="en-US" sz="3200" i="1" dirty="0">
                <a:latin typeface="Times New Roman"/>
                <a:ea typeface="+mn-lt"/>
                <a:cs typeface="Times New Roman"/>
              </a:rPr>
              <a:t>Skill Academy AI</a:t>
            </a:r>
            <a:r>
              <a:rPr lang="en-US" sz="3200" dirty="0">
                <a:latin typeface="Times New Roman"/>
                <a:ea typeface="+mn-lt"/>
                <a:cs typeface="Times New Roman"/>
              </a:rPr>
              <a:t>, is an AI-powered Smart Learning Management System designed to provide structured digital education.</a:t>
            </a:r>
            <a:endParaRPr lang="en-US" sz="3200" dirty="0">
              <a:latin typeface="Times New Roman"/>
              <a:ea typeface="Calibri"/>
              <a:cs typeface="Times New Roman"/>
            </a:endParaRPr>
          </a:p>
          <a:p>
            <a:pPr marL="457200" algn="just">
              <a:lnSpc>
                <a:spcPct val="150000"/>
              </a:lnSpc>
              <a:buFont typeface="Arial"/>
              <a:buChar char="•"/>
            </a:pPr>
            <a:r>
              <a:rPr lang="en-US" sz="3200" dirty="0">
                <a:latin typeface="Times New Roman"/>
                <a:ea typeface="+mn-lt"/>
                <a:cs typeface="Times New Roman"/>
              </a:rPr>
              <a:t> It includes secure role-based authentication for students and instructors.</a:t>
            </a:r>
            <a:endParaRPr lang="en-US" sz="3200" dirty="0">
              <a:latin typeface="Times New Roman"/>
              <a:ea typeface="Calibri"/>
              <a:cs typeface="Times New Roman"/>
            </a:endParaRPr>
          </a:p>
          <a:p>
            <a:pPr marL="457200" algn="just">
              <a:lnSpc>
                <a:spcPct val="150000"/>
              </a:lnSpc>
              <a:buFont typeface="Arial"/>
              <a:buChar char="•"/>
            </a:pPr>
            <a:r>
              <a:rPr lang="en-US" sz="3200" dirty="0">
                <a:latin typeface="Times New Roman"/>
                <a:ea typeface="+mn-lt"/>
                <a:cs typeface="Times New Roman"/>
              </a:rPr>
              <a:t> The platform supports automated course management, enrollment request handling, and approval workflows.</a:t>
            </a:r>
            <a:endParaRPr lang="en-US" sz="3200" dirty="0">
              <a:latin typeface="Times New Roman"/>
              <a:ea typeface="Calibri"/>
              <a:cs typeface="Times New Roman"/>
            </a:endParaRPr>
          </a:p>
          <a:p>
            <a:pPr marL="457200" algn="just">
              <a:lnSpc>
                <a:spcPct val="150000"/>
              </a:lnSpc>
              <a:buFont typeface="Arial"/>
              <a:buChar char="•"/>
            </a:pPr>
            <a:r>
              <a:rPr lang="en-US" sz="3200" dirty="0">
                <a:latin typeface="Times New Roman"/>
                <a:ea typeface="+mn-lt"/>
                <a:cs typeface="Times New Roman"/>
              </a:rPr>
              <a:t> AI-based recommendation modules and real-time progress tracking features are integrated to enhance personalized learning.</a:t>
            </a:r>
            <a:endParaRPr lang="en-US" sz="3200" dirty="0">
              <a:latin typeface="Times New Roman"/>
              <a:ea typeface="Calibri"/>
              <a:cs typeface="Times New Roman"/>
            </a:endParaRPr>
          </a:p>
          <a:p>
            <a:pPr algn="just"/>
            <a:endParaRPr lang="en-US" sz="2800" dirty="0">
              <a:latin typeface="Calibri"/>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7F75AAC2-F884-A7EA-AB5D-5F8B58478D07}"/>
            </a:ext>
          </a:extLst>
        </p:cNvPr>
        <p:cNvGrpSpPr/>
        <p:nvPr/>
      </p:nvGrpSpPr>
      <p:grpSpPr>
        <a:xfrm>
          <a:off x="0" y="0"/>
          <a:ext cx="0" cy="0"/>
          <a:chOff x="0" y="0"/>
          <a:chExt cx="0" cy="0"/>
        </a:xfrm>
      </p:grpSpPr>
      <p:grpSp>
        <p:nvGrpSpPr>
          <p:cNvPr id="13" name="Group 13">
            <a:extLst>
              <a:ext uri="{FF2B5EF4-FFF2-40B4-BE49-F238E27FC236}">
                <a16:creationId xmlns:a16="http://schemas.microsoft.com/office/drawing/2014/main" id="{ED883D54-614D-FDA2-3479-9DAE4F806A9A}"/>
              </a:ext>
            </a:extLst>
          </p:cNvPr>
          <p:cNvGrpSpPr/>
          <p:nvPr/>
        </p:nvGrpSpPr>
        <p:grpSpPr>
          <a:xfrm>
            <a:off x="709357" y="3983373"/>
            <a:ext cx="992463" cy="992463"/>
            <a:chOff x="0" y="0"/>
            <a:chExt cx="812800" cy="812800"/>
          </a:xfrm>
        </p:grpSpPr>
        <p:sp>
          <p:nvSpPr>
            <p:cNvPr id="14" name="Freeform 14">
              <a:extLst>
                <a:ext uri="{FF2B5EF4-FFF2-40B4-BE49-F238E27FC236}">
                  <a16:creationId xmlns:a16="http://schemas.microsoft.com/office/drawing/2014/main" id="{BCD4BACC-0B8D-5E8F-A5CC-55B000125D1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a:extLst>
                <a:ext uri="{FF2B5EF4-FFF2-40B4-BE49-F238E27FC236}">
                  <a16:creationId xmlns:a16="http://schemas.microsoft.com/office/drawing/2014/main" id="{CA4D55D0-20A3-37AB-98F8-C782A04EF4E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a:extLst>
              <a:ext uri="{FF2B5EF4-FFF2-40B4-BE49-F238E27FC236}">
                <a16:creationId xmlns:a16="http://schemas.microsoft.com/office/drawing/2014/main" id="{3000E17C-8624-5C41-A695-B0DE7AD903D1}"/>
              </a:ext>
            </a:extLst>
          </p:cNvPr>
          <p:cNvGrpSpPr/>
          <p:nvPr/>
        </p:nvGrpSpPr>
        <p:grpSpPr>
          <a:xfrm>
            <a:off x="951509" y="3315742"/>
            <a:ext cx="508158" cy="543805"/>
            <a:chOff x="0" y="0"/>
            <a:chExt cx="812800" cy="869819"/>
          </a:xfrm>
        </p:grpSpPr>
        <p:sp>
          <p:nvSpPr>
            <p:cNvPr id="17" name="Freeform 17">
              <a:extLst>
                <a:ext uri="{FF2B5EF4-FFF2-40B4-BE49-F238E27FC236}">
                  <a16:creationId xmlns:a16="http://schemas.microsoft.com/office/drawing/2014/main" id="{3F4C0B30-C137-0EBC-13D8-5AE8CE152FC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112F3D68-EAD9-80D5-9551-C158645DDFF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a:extLst>
              <a:ext uri="{FF2B5EF4-FFF2-40B4-BE49-F238E27FC236}">
                <a16:creationId xmlns:a16="http://schemas.microsoft.com/office/drawing/2014/main" id="{4A0B5305-CBF9-B5EC-EC9C-1A7270B2F199}"/>
              </a:ext>
            </a:extLst>
          </p:cNvPr>
          <p:cNvGrpSpPr/>
          <p:nvPr/>
        </p:nvGrpSpPr>
        <p:grpSpPr>
          <a:xfrm>
            <a:off x="951509" y="1982349"/>
            <a:ext cx="508158" cy="543805"/>
            <a:chOff x="0" y="0"/>
            <a:chExt cx="812800" cy="869819"/>
          </a:xfrm>
        </p:grpSpPr>
        <p:sp>
          <p:nvSpPr>
            <p:cNvPr id="20" name="Freeform 20">
              <a:extLst>
                <a:ext uri="{FF2B5EF4-FFF2-40B4-BE49-F238E27FC236}">
                  <a16:creationId xmlns:a16="http://schemas.microsoft.com/office/drawing/2014/main" id="{A6A90D8C-A807-32DB-30F2-A0080CFDBBD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AF68FA36-A491-1ECE-74FE-0FC76BD1EF2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a:extLst>
              <a:ext uri="{FF2B5EF4-FFF2-40B4-BE49-F238E27FC236}">
                <a16:creationId xmlns:a16="http://schemas.microsoft.com/office/drawing/2014/main" id="{108DB11B-92FD-45C8-44C2-16DF466A03C0}"/>
              </a:ext>
            </a:extLst>
          </p:cNvPr>
          <p:cNvGrpSpPr/>
          <p:nvPr/>
        </p:nvGrpSpPr>
        <p:grpSpPr>
          <a:xfrm>
            <a:off x="951509" y="5094059"/>
            <a:ext cx="508158" cy="543805"/>
            <a:chOff x="0" y="0"/>
            <a:chExt cx="812800" cy="869819"/>
          </a:xfrm>
        </p:grpSpPr>
        <p:sp>
          <p:nvSpPr>
            <p:cNvPr id="23" name="Freeform 23">
              <a:extLst>
                <a:ext uri="{FF2B5EF4-FFF2-40B4-BE49-F238E27FC236}">
                  <a16:creationId xmlns:a16="http://schemas.microsoft.com/office/drawing/2014/main" id="{F640829D-B12C-B53B-DF33-0139EB5F395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19A74F8E-CF4A-64AC-07EA-738BF248867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a:extLst>
              <a:ext uri="{FF2B5EF4-FFF2-40B4-BE49-F238E27FC236}">
                <a16:creationId xmlns:a16="http://schemas.microsoft.com/office/drawing/2014/main" id="{E8186ECF-3F58-9586-975F-EC8F30BC111F}"/>
              </a:ext>
            </a:extLst>
          </p:cNvPr>
          <p:cNvGrpSpPr/>
          <p:nvPr/>
        </p:nvGrpSpPr>
        <p:grpSpPr>
          <a:xfrm>
            <a:off x="951509" y="2648112"/>
            <a:ext cx="508158" cy="543805"/>
            <a:chOff x="0" y="0"/>
            <a:chExt cx="812800" cy="869819"/>
          </a:xfrm>
        </p:grpSpPr>
        <p:sp>
          <p:nvSpPr>
            <p:cNvPr id="26" name="Freeform 26">
              <a:extLst>
                <a:ext uri="{FF2B5EF4-FFF2-40B4-BE49-F238E27FC236}">
                  <a16:creationId xmlns:a16="http://schemas.microsoft.com/office/drawing/2014/main" id="{D2385843-C5FE-C40C-15A4-4A7EF4492DB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A1560B1A-C582-0CDB-CD81-4795193D4BA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a:extLst>
              <a:ext uri="{FF2B5EF4-FFF2-40B4-BE49-F238E27FC236}">
                <a16:creationId xmlns:a16="http://schemas.microsoft.com/office/drawing/2014/main" id="{9B555D68-E5B2-D6B9-9771-C5BA9FAF148F}"/>
              </a:ext>
            </a:extLst>
          </p:cNvPr>
          <p:cNvGrpSpPr/>
          <p:nvPr/>
        </p:nvGrpSpPr>
        <p:grpSpPr>
          <a:xfrm>
            <a:off x="951509" y="6425585"/>
            <a:ext cx="508158" cy="543805"/>
            <a:chOff x="0" y="0"/>
            <a:chExt cx="812800" cy="869819"/>
          </a:xfrm>
        </p:grpSpPr>
        <p:sp>
          <p:nvSpPr>
            <p:cNvPr id="29" name="Freeform 29">
              <a:extLst>
                <a:ext uri="{FF2B5EF4-FFF2-40B4-BE49-F238E27FC236}">
                  <a16:creationId xmlns:a16="http://schemas.microsoft.com/office/drawing/2014/main" id="{D573E6C3-A2EB-C7C5-9B5F-B2642C525B2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6D28E7B-B8D1-91C9-F489-E8EADE9669C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1EFE44E9-54A4-6627-7887-FFA3183064D9}"/>
              </a:ext>
            </a:extLst>
          </p:cNvPr>
          <p:cNvGrpSpPr/>
          <p:nvPr/>
        </p:nvGrpSpPr>
        <p:grpSpPr>
          <a:xfrm>
            <a:off x="951509" y="5759822"/>
            <a:ext cx="508158" cy="543805"/>
            <a:chOff x="0" y="0"/>
            <a:chExt cx="812800" cy="869819"/>
          </a:xfrm>
        </p:grpSpPr>
        <p:sp>
          <p:nvSpPr>
            <p:cNvPr id="32" name="Freeform 32">
              <a:extLst>
                <a:ext uri="{FF2B5EF4-FFF2-40B4-BE49-F238E27FC236}">
                  <a16:creationId xmlns:a16="http://schemas.microsoft.com/office/drawing/2014/main" id="{1F0876BE-9FBC-8226-E629-7C7FC49562D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F5044A5E-4FBD-6EB8-A8B5-637670ACA97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a:extLst>
              <a:ext uri="{FF2B5EF4-FFF2-40B4-BE49-F238E27FC236}">
                <a16:creationId xmlns:a16="http://schemas.microsoft.com/office/drawing/2014/main" id="{F596081F-47CC-C242-8975-C770CF08C913}"/>
              </a:ext>
            </a:extLst>
          </p:cNvPr>
          <p:cNvGrpSpPr/>
          <p:nvPr/>
        </p:nvGrpSpPr>
        <p:grpSpPr>
          <a:xfrm>
            <a:off x="951509" y="7093216"/>
            <a:ext cx="508158" cy="543805"/>
            <a:chOff x="0" y="0"/>
            <a:chExt cx="812800" cy="869819"/>
          </a:xfrm>
        </p:grpSpPr>
        <p:sp>
          <p:nvSpPr>
            <p:cNvPr id="35" name="Freeform 35">
              <a:extLst>
                <a:ext uri="{FF2B5EF4-FFF2-40B4-BE49-F238E27FC236}">
                  <a16:creationId xmlns:a16="http://schemas.microsoft.com/office/drawing/2014/main" id="{1873C665-808F-572C-90C1-A7E99E73D63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a:extLst>
                <a:ext uri="{FF2B5EF4-FFF2-40B4-BE49-F238E27FC236}">
                  <a16:creationId xmlns:a16="http://schemas.microsoft.com/office/drawing/2014/main" id="{9C365532-A4A7-5368-E0A4-C6404CFBA58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a:extLst>
              <a:ext uri="{FF2B5EF4-FFF2-40B4-BE49-F238E27FC236}">
                <a16:creationId xmlns:a16="http://schemas.microsoft.com/office/drawing/2014/main" id="{71DF126B-5788-03E6-545D-CC85AE5D2FE4}"/>
              </a:ext>
            </a:extLst>
          </p:cNvPr>
          <p:cNvGrpSpPr/>
          <p:nvPr/>
        </p:nvGrpSpPr>
        <p:grpSpPr>
          <a:xfrm>
            <a:off x="951509" y="7760846"/>
            <a:ext cx="508158" cy="543805"/>
            <a:chOff x="0" y="0"/>
            <a:chExt cx="812800" cy="869819"/>
          </a:xfrm>
        </p:grpSpPr>
        <p:sp>
          <p:nvSpPr>
            <p:cNvPr id="38" name="Freeform 38">
              <a:extLst>
                <a:ext uri="{FF2B5EF4-FFF2-40B4-BE49-F238E27FC236}">
                  <a16:creationId xmlns:a16="http://schemas.microsoft.com/office/drawing/2014/main" id="{08E48B24-6834-ACDC-4530-5D8E116FA58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a:extLst>
                <a:ext uri="{FF2B5EF4-FFF2-40B4-BE49-F238E27FC236}">
                  <a16:creationId xmlns:a16="http://schemas.microsoft.com/office/drawing/2014/main" id="{3F0E2F8C-A6EE-805F-5F3A-B184F5E33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9A151442-9DA1-30ED-E80F-170723C64125}"/>
              </a:ext>
            </a:extLst>
          </p:cNvPr>
          <p:cNvSpPr/>
          <p:nvPr/>
        </p:nvSpPr>
        <p:spPr>
          <a:xfrm>
            <a:off x="16313420" y="519168"/>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A25ADAA1-E30E-34FF-B5A5-9B1B83D0DD7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41659102-E966-E001-2491-B1489693B636}"/>
              </a:ext>
            </a:extLst>
          </p:cNvPr>
          <p:cNvSpPr txBox="1"/>
          <p:nvPr/>
        </p:nvSpPr>
        <p:spPr>
          <a:xfrm>
            <a:off x="2189205" y="1555922"/>
            <a:ext cx="15082325" cy="4062651"/>
          </a:xfrm>
          <a:prstGeom prst="rect">
            <a:avLst/>
          </a:prstGeom>
          <a:noFill/>
        </p:spPr>
        <p:txBody>
          <a:bodyPr wrap="square" lIns="91440" tIns="45720" rIns="91440" bIns="45720" rtlCol="0" anchor="t">
            <a:spAutoFit/>
          </a:bodyPr>
          <a:lstStyle/>
          <a:p>
            <a:r>
              <a:rPr lang="en-US" sz="3400" b="1" dirty="0">
                <a:latin typeface="Times New Roman"/>
                <a:cs typeface="Times New Roman"/>
              </a:rPr>
              <a:t>2. Existing Issues Addressed :</a:t>
            </a:r>
            <a:endParaRPr lang="en-US" sz="3400" dirty="0">
              <a:latin typeface="Times New Roman"/>
              <a:cs typeface="Times New Roman"/>
            </a:endParaRPr>
          </a:p>
          <a:p>
            <a:pPr>
              <a:lnSpc>
                <a:spcPct val="150000"/>
              </a:lnSpc>
            </a:pPr>
            <a:r>
              <a:rPr lang="en-US" sz="2800" dirty="0">
                <a:latin typeface="Times New Roman"/>
                <a:ea typeface="+mn-lt"/>
                <a:cs typeface="Times New Roman"/>
              </a:rPr>
              <a:t>• Manual enrollment and course approval processes cause delays and inefficiencies.</a:t>
            </a:r>
            <a:br>
              <a:rPr lang="en-US" sz="2800" dirty="0">
                <a:latin typeface="Times New Roman"/>
                <a:ea typeface="+mn-lt"/>
                <a:cs typeface="Times New Roman"/>
              </a:rPr>
            </a:br>
            <a:r>
              <a:rPr lang="en-US" sz="2800" dirty="0">
                <a:latin typeface="Times New Roman"/>
                <a:ea typeface="+mn-lt"/>
                <a:cs typeface="Times New Roman"/>
              </a:rPr>
              <a:t>• Traditional LMS platforms lack intelligent personalization and automated analytics.</a:t>
            </a:r>
            <a:br>
              <a:rPr lang="en-US" sz="2800" dirty="0">
                <a:latin typeface="Times New Roman"/>
                <a:ea typeface="+mn-lt"/>
                <a:cs typeface="Times New Roman"/>
              </a:rPr>
            </a:br>
            <a:r>
              <a:rPr lang="en-US" sz="2800" dirty="0">
                <a:latin typeface="Times New Roman"/>
                <a:ea typeface="+mn-lt"/>
                <a:cs typeface="Times New Roman"/>
              </a:rPr>
              <a:t>• Limited progress tracking reduces effective performance monitoring.</a:t>
            </a:r>
            <a:br>
              <a:rPr lang="en-US" sz="2800" dirty="0">
                <a:latin typeface="Times New Roman"/>
                <a:ea typeface="+mn-lt"/>
                <a:cs typeface="Times New Roman"/>
              </a:rPr>
            </a:br>
            <a:r>
              <a:rPr lang="en-US" sz="2800" dirty="0">
                <a:latin typeface="Times New Roman"/>
                <a:ea typeface="+mn-lt"/>
                <a:cs typeface="Times New Roman"/>
              </a:rPr>
              <a:t>• Inadequate role-based access control may lead to security and management issues.</a:t>
            </a:r>
            <a:endParaRPr lang="en-US" dirty="0">
              <a:latin typeface="Times New Roman"/>
              <a:cs typeface="Times New Roman"/>
            </a:endParaRPr>
          </a:p>
          <a:p>
            <a:endParaRPr lang="en-US" sz="2800" b="1" dirty="0">
              <a:ea typeface="Calibri"/>
              <a:cs typeface="Calibri"/>
            </a:endParaRPr>
          </a:p>
          <a:p>
            <a:pPr marL="457200" indent="-457200">
              <a:buFontTx/>
              <a:buChar char="-"/>
            </a:pPr>
            <a:endParaRPr lang="en-US" sz="2800" dirty="0">
              <a:ea typeface="Calibri"/>
              <a:cs typeface="Calibri"/>
            </a:endParaRPr>
          </a:p>
        </p:txBody>
      </p:sp>
      <p:sp>
        <p:nvSpPr>
          <p:cNvPr id="2" name="TextBox 1">
            <a:extLst>
              <a:ext uri="{FF2B5EF4-FFF2-40B4-BE49-F238E27FC236}">
                <a16:creationId xmlns:a16="http://schemas.microsoft.com/office/drawing/2014/main" id="{307C0382-2CC5-6738-8CB2-F362C826165F}"/>
              </a:ext>
            </a:extLst>
          </p:cNvPr>
          <p:cNvSpPr txBox="1"/>
          <p:nvPr/>
        </p:nvSpPr>
        <p:spPr>
          <a:xfrm>
            <a:off x="2189205" y="5551274"/>
            <a:ext cx="15082325" cy="3631763"/>
          </a:xfrm>
          <a:prstGeom prst="rect">
            <a:avLst/>
          </a:prstGeom>
          <a:noFill/>
        </p:spPr>
        <p:txBody>
          <a:bodyPr wrap="square" lIns="91440" tIns="45720" rIns="91440" bIns="45720" rtlCol="0" anchor="t">
            <a:spAutoFit/>
          </a:bodyPr>
          <a:lstStyle/>
          <a:p>
            <a:r>
              <a:rPr lang="en-US" sz="3400" b="1" dirty="0">
                <a:latin typeface="Times New Roman"/>
                <a:cs typeface="Times New Roman"/>
              </a:rPr>
              <a:t>3. </a:t>
            </a:r>
            <a:r>
              <a:rPr lang="en-US" sz="3400" b="1" dirty="0">
                <a:latin typeface="Times New Roman"/>
                <a:ea typeface="+mn-lt"/>
                <a:cs typeface="Times New Roman"/>
              </a:rPr>
              <a:t>Advantages Over Existing Systems :</a:t>
            </a:r>
            <a:endParaRPr lang="en-US" sz="3400" b="1" dirty="0">
              <a:latin typeface="Times New Roman"/>
              <a:cs typeface="Times New Roman"/>
            </a:endParaRPr>
          </a:p>
          <a:p>
            <a:pPr>
              <a:lnSpc>
                <a:spcPct val="150000"/>
              </a:lnSpc>
            </a:pPr>
            <a:r>
              <a:rPr lang="en-US" sz="2800" dirty="0">
                <a:latin typeface="Times New Roman"/>
                <a:ea typeface="+mn-lt"/>
                <a:cs typeface="Times New Roman"/>
              </a:rPr>
              <a:t>• Provides automated enrollment workflows, reducing manual intervention.</a:t>
            </a:r>
            <a:br>
              <a:rPr lang="en-US" sz="2800" dirty="0">
                <a:latin typeface="Times New Roman"/>
                <a:ea typeface="+mn-lt"/>
                <a:cs typeface="Times New Roman"/>
              </a:rPr>
            </a:br>
            <a:r>
              <a:rPr lang="en-US" sz="2800" dirty="0">
                <a:latin typeface="Times New Roman"/>
                <a:ea typeface="+mn-lt"/>
                <a:cs typeface="Times New Roman"/>
              </a:rPr>
              <a:t> • Enhances learning through AI-based course recommendations.</a:t>
            </a:r>
            <a:br>
              <a:rPr lang="en-US" sz="2800" dirty="0">
                <a:latin typeface="Times New Roman"/>
                <a:ea typeface="+mn-lt"/>
                <a:cs typeface="Times New Roman"/>
              </a:rPr>
            </a:br>
            <a:r>
              <a:rPr lang="en-US" sz="2800" dirty="0">
                <a:latin typeface="Times New Roman"/>
                <a:ea typeface="+mn-lt"/>
                <a:cs typeface="Times New Roman"/>
              </a:rPr>
              <a:t> • Offers real-time progress monitoring for improved performance evaluation.</a:t>
            </a:r>
            <a:br>
              <a:rPr lang="en-US" sz="2800" dirty="0">
                <a:latin typeface="Times New Roman"/>
                <a:ea typeface="+mn-lt"/>
                <a:cs typeface="Times New Roman"/>
              </a:rPr>
            </a:br>
            <a:r>
              <a:rPr lang="en-US" sz="2800" dirty="0">
                <a:latin typeface="Times New Roman"/>
                <a:ea typeface="+mn-lt"/>
                <a:cs typeface="Times New Roman"/>
              </a:rPr>
              <a:t> • Ensures secure, structured, and efficient course management through role-based access control</a:t>
            </a:r>
            <a:r>
              <a:rPr lang="en-US" sz="2800" dirty="0">
                <a:ea typeface="+mn-lt"/>
                <a:cs typeface="+mn-lt"/>
              </a:rPr>
              <a:t>.</a:t>
            </a:r>
            <a:endParaRPr lang="en-US" dirty="0">
              <a:ea typeface="+mn-lt"/>
              <a:cs typeface="+mn-lt"/>
            </a:endParaRPr>
          </a:p>
          <a:p>
            <a:pPr marL="457200" indent="-457200">
              <a:buFontTx/>
              <a:buChar char="-"/>
            </a:pPr>
            <a:endParaRPr lang="en-US" sz="2800" dirty="0">
              <a:ea typeface="Calibri"/>
              <a:cs typeface="Calibri"/>
            </a:endParaRPr>
          </a:p>
        </p:txBody>
      </p:sp>
    </p:spTree>
    <p:extLst>
      <p:ext uri="{BB962C8B-B14F-4D97-AF65-F5344CB8AC3E}">
        <p14:creationId xmlns:p14="http://schemas.microsoft.com/office/powerpoint/2010/main" val="4049213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86C25FA-7C8B-2A8C-662A-4D0E8DFED809}"/>
              </a:ext>
            </a:extLst>
          </p:cNvPr>
          <p:cNvPicPr>
            <a:picLocks noChangeAspect="1"/>
          </p:cNvPicPr>
          <p:nvPr/>
        </p:nvPicPr>
        <p:blipFill>
          <a:blip r:embed="rId3"/>
          <a:stretch>
            <a:fillRect/>
          </a:stretch>
        </p:blipFill>
        <p:spPr>
          <a:xfrm>
            <a:off x="2321012" y="1616290"/>
            <a:ext cx="14099058" cy="74045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232A366B-2978-A02D-EDC7-F9B58FE5DA83}"/>
              </a:ext>
            </a:extLst>
          </p:cNvPr>
          <p:cNvPicPr>
            <a:picLocks noChangeAspect="1"/>
          </p:cNvPicPr>
          <p:nvPr/>
        </p:nvPicPr>
        <p:blipFill>
          <a:blip r:embed="rId3"/>
          <a:stretch>
            <a:fillRect/>
          </a:stretch>
        </p:blipFill>
        <p:spPr>
          <a:xfrm>
            <a:off x="2619632" y="1164753"/>
            <a:ext cx="13059033" cy="808106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189205" y="1174922"/>
            <a:ext cx="15082325" cy="13973056"/>
          </a:xfrm>
          <a:prstGeom prst="rect">
            <a:avLst/>
          </a:prstGeom>
          <a:noFill/>
        </p:spPr>
        <p:txBody>
          <a:bodyPr wrap="square" lIns="91440" tIns="45720" rIns="91440" bIns="45720" rtlCol="0" anchor="t">
            <a:spAutoFit/>
          </a:bodyPr>
          <a:lstStyle/>
          <a:p>
            <a:pPr>
              <a:lnSpc>
                <a:spcPct val="150000"/>
              </a:lnSpc>
            </a:pPr>
            <a:r>
              <a:rPr lang="en-US" sz="2600" b="1" dirty="0">
                <a:latin typeface="Times New Roman"/>
                <a:cs typeface="Times New Roman"/>
              </a:rPr>
              <a:t>1. Presentation Layer (Frontend)</a:t>
            </a:r>
            <a:endParaRPr lang="en-US"/>
          </a:p>
          <a:p>
            <a:pPr marL="285750">
              <a:lnSpc>
                <a:spcPct val="150000"/>
              </a:lnSpc>
              <a:buFont typeface="Arial"/>
              <a:buChar char="•"/>
            </a:pPr>
            <a:r>
              <a:rPr lang="en-US" sz="2400" dirty="0">
                <a:latin typeface="Times New Roman"/>
                <a:ea typeface="+mn-lt"/>
                <a:cs typeface="Times New Roman"/>
              </a:rPr>
              <a:t> HTML5 – Structure of web pages</a:t>
            </a:r>
            <a:endParaRPr lang="en-US" sz="2400" dirty="0">
              <a:latin typeface="Times New Roman"/>
              <a:cs typeface="Times New Roman"/>
            </a:endParaRPr>
          </a:p>
          <a:p>
            <a:pPr marL="285750">
              <a:lnSpc>
                <a:spcPct val="150000"/>
              </a:lnSpc>
              <a:buFont typeface="Arial"/>
              <a:buChar char="•"/>
            </a:pPr>
            <a:r>
              <a:rPr lang="en-US" sz="2400" dirty="0">
                <a:latin typeface="Times New Roman"/>
                <a:ea typeface="+mn-lt"/>
                <a:cs typeface="Times New Roman"/>
              </a:rPr>
              <a:t> CSS3 – Styling, layout, responsive UI</a:t>
            </a:r>
            <a:endParaRPr lang="en-US" sz="2400" dirty="0">
              <a:latin typeface="Times New Roman"/>
              <a:cs typeface="Times New Roman"/>
            </a:endParaRPr>
          </a:p>
          <a:p>
            <a:pPr marL="285750">
              <a:lnSpc>
                <a:spcPct val="150000"/>
              </a:lnSpc>
              <a:buFont typeface="Arial"/>
              <a:buChar char="•"/>
            </a:pPr>
            <a:r>
              <a:rPr lang="en-US" sz="2400" dirty="0">
                <a:latin typeface="Times New Roman"/>
                <a:ea typeface="+mn-lt"/>
                <a:cs typeface="Times New Roman"/>
              </a:rPr>
              <a:t> JavaScript – Client-side interactivity and validation</a:t>
            </a:r>
            <a:endParaRPr lang="en-US" sz="2400" dirty="0">
              <a:latin typeface="Times New Roman"/>
              <a:ea typeface="Calibri"/>
              <a:cs typeface="Times New Roman"/>
            </a:endParaRPr>
          </a:p>
          <a:p>
            <a:pPr marL="285750">
              <a:lnSpc>
                <a:spcPct val="150000"/>
              </a:lnSpc>
            </a:pPr>
            <a:endParaRPr lang="en-US" sz="2400" dirty="0">
              <a:latin typeface="Times New Roman"/>
              <a:ea typeface="Calibri"/>
              <a:cs typeface="Times New Roman"/>
            </a:endParaRPr>
          </a:p>
          <a:p>
            <a:pPr>
              <a:lnSpc>
                <a:spcPct val="150000"/>
              </a:lnSpc>
            </a:pPr>
            <a:r>
              <a:rPr lang="en-US" sz="2600" b="1" dirty="0">
                <a:latin typeface="Times New Roman"/>
                <a:cs typeface="Times New Roman"/>
              </a:rPr>
              <a:t>2. Application Layer (Backend)</a:t>
            </a:r>
          </a:p>
          <a:p>
            <a:pPr marL="285750">
              <a:lnSpc>
                <a:spcPct val="150000"/>
              </a:lnSpc>
              <a:buFont typeface="Arial"/>
              <a:buChar char="•"/>
            </a:pPr>
            <a:r>
              <a:rPr lang="en-US" sz="2400" dirty="0">
                <a:latin typeface="Times New Roman"/>
                <a:ea typeface="+mn-lt"/>
                <a:cs typeface="Times New Roman"/>
              </a:rPr>
              <a:t> PHP – Server-side scripting, session management, authentication, role-based access control, enrollment processing</a:t>
            </a:r>
            <a:br>
              <a:rPr lang="en-US" sz="2400" dirty="0">
                <a:latin typeface="Times New Roman"/>
                <a:cs typeface="Times New Roman"/>
              </a:rPr>
            </a:br>
            <a:endParaRPr lang="en-US" sz="2000" dirty="0">
              <a:latin typeface="Times New Roman"/>
              <a:ea typeface="Calibri"/>
              <a:cs typeface="Times New Roman"/>
            </a:endParaRPr>
          </a:p>
          <a:p>
            <a:pPr>
              <a:lnSpc>
                <a:spcPct val="150000"/>
              </a:lnSpc>
            </a:pPr>
            <a:r>
              <a:rPr lang="en-US" sz="2600" b="1" dirty="0">
                <a:latin typeface="Times New Roman"/>
                <a:cs typeface="Times New Roman"/>
              </a:rPr>
              <a:t>3. Data Layer (Database)</a:t>
            </a:r>
          </a:p>
          <a:p>
            <a:pPr marL="285750">
              <a:lnSpc>
                <a:spcPct val="150000"/>
              </a:lnSpc>
              <a:buFont typeface="Arial"/>
              <a:buChar char="•"/>
            </a:pPr>
            <a:r>
              <a:rPr lang="en-US" sz="2400" dirty="0">
                <a:latin typeface="Times New Roman"/>
                <a:ea typeface="+mn-lt"/>
                <a:cs typeface="Times New Roman"/>
              </a:rPr>
              <a:t> MySQL – Stores users, courses, enrollments, and progress data</a:t>
            </a:r>
            <a:endParaRPr lang="en-US" sz="2400" dirty="0">
              <a:latin typeface="Times New Roman"/>
              <a:cs typeface="Times New Roman"/>
            </a:endParaRPr>
          </a:p>
          <a:p>
            <a:pPr marL="285750">
              <a:lnSpc>
                <a:spcPct val="150000"/>
              </a:lnSpc>
            </a:pPr>
            <a:endParaRPr lang="en-US" sz="2400" dirty="0">
              <a:latin typeface="Times New Roman"/>
              <a:ea typeface="Calibri"/>
              <a:cs typeface="Times New Roman"/>
            </a:endParaRPr>
          </a:p>
          <a:p>
            <a:pPr>
              <a:lnSpc>
                <a:spcPct val="150000"/>
              </a:lnSpc>
            </a:pPr>
            <a:r>
              <a:rPr lang="en-US" sz="2600" b="1" dirty="0">
                <a:latin typeface="Times New Roman"/>
                <a:cs typeface="Times New Roman"/>
              </a:rPr>
              <a:t>4. Development &amp; Deployment Tools</a:t>
            </a:r>
          </a:p>
          <a:p>
            <a:pPr marL="285750">
              <a:lnSpc>
                <a:spcPct val="150000"/>
              </a:lnSpc>
              <a:buFont typeface="Arial"/>
              <a:buChar char="•"/>
            </a:pPr>
            <a:r>
              <a:rPr lang="en-US" sz="2400" dirty="0">
                <a:latin typeface="Times New Roman"/>
                <a:ea typeface="+mn-lt"/>
                <a:cs typeface="Times New Roman"/>
              </a:rPr>
              <a:t> XAMPP – Local server environment (Apache + MySQL)</a:t>
            </a:r>
            <a:endParaRPr lang="en-US" sz="2400" dirty="0">
              <a:latin typeface="Times New Roman"/>
              <a:cs typeface="Times New Roman"/>
            </a:endParaRPr>
          </a:p>
          <a:p>
            <a:pPr marL="285750">
              <a:lnSpc>
                <a:spcPct val="150000"/>
              </a:lnSpc>
              <a:buFont typeface="Arial"/>
              <a:buChar char="•"/>
            </a:pPr>
            <a:r>
              <a:rPr lang="en-US" sz="2400" dirty="0">
                <a:latin typeface="Times New Roman"/>
                <a:ea typeface="+mn-lt"/>
                <a:cs typeface="Times New Roman"/>
              </a:rPr>
              <a:t> phpMyAdmin – Database management</a:t>
            </a:r>
            <a:endParaRPr lang="en-US" sz="2400" dirty="0">
              <a:latin typeface="Times New Roman"/>
              <a:cs typeface="Times New Roman"/>
            </a:endParaRPr>
          </a:p>
          <a:p>
            <a:endParaRPr lang="en-US" sz="2800" dirty="0">
              <a:latin typeface="Calibri"/>
              <a:ea typeface="Calibri"/>
              <a:cs typeface="Calibri"/>
            </a:endParaRPr>
          </a:p>
          <a:p>
            <a:pPr marL="457200" indent="-457200">
              <a:buChar char="-"/>
            </a:pPr>
            <a:endParaRPr lang="en-US" sz="2800" dirty="0">
              <a:ea typeface="Calibri"/>
              <a:cs typeface="Calibri"/>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096529" y="1555922"/>
            <a:ext cx="15082325" cy="12189042"/>
          </a:xfrm>
          <a:prstGeom prst="rect">
            <a:avLst/>
          </a:prstGeom>
          <a:noFill/>
        </p:spPr>
        <p:txBody>
          <a:bodyPr wrap="square" lIns="91440" tIns="45720" rIns="91440" bIns="45720" rtlCol="0" anchor="t">
            <a:spAutoFit/>
          </a:bodyPr>
          <a:lstStyle/>
          <a:p>
            <a:pPr algn="just">
              <a:lnSpc>
                <a:spcPct val="150000"/>
              </a:lnSpc>
            </a:pPr>
            <a:r>
              <a:rPr lang="en-IN" sz="3300" b="1" dirty="0">
                <a:latin typeface="Times New Roman"/>
                <a:cs typeface="Times New Roman"/>
              </a:rPr>
              <a:t>Module 1: User Management</a:t>
            </a:r>
            <a:endParaRPr lang="en-IN" sz="3300" dirty="0">
              <a:latin typeface="Times New Roman"/>
              <a:ea typeface="Calibri"/>
              <a:cs typeface="Times New Roman"/>
            </a:endParaRPr>
          </a:p>
          <a:p>
            <a:pPr marL="457200" algn="just">
              <a:lnSpc>
                <a:spcPct val="150000"/>
              </a:lnSpc>
              <a:buFont typeface="Arial"/>
              <a:buChar char="•"/>
            </a:pPr>
            <a:r>
              <a:rPr lang="en-IN" sz="3300" dirty="0">
                <a:latin typeface="Times New Roman"/>
                <a:ea typeface="+mn-lt"/>
                <a:cs typeface="Times New Roman"/>
              </a:rPr>
              <a:t> Handles user registration, secure login, and session management.</a:t>
            </a:r>
          </a:p>
          <a:p>
            <a:pPr marL="457200" algn="just">
              <a:lnSpc>
                <a:spcPct val="150000"/>
              </a:lnSpc>
              <a:buFont typeface="Arial"/>
              <a:buChar char="•"/>
            </a:pPr>
            <a:r>
              <a:rPr lang="en-IN" sz="3300" dirty="0">
                <a:latin typeface="Times New Roman"/>
                <a:ea typeface="+mn-lt"/>
                <a:cs typeface="Times New Roman"/>
              </a:rPr>
              <a:t> Implements role-based access control to differentiate students and instructors.</a:t>
            </a:r>
          </a:p>
          <a:p>
            <a:pPr marL="457200" algn="just">
              <a:lnSpc>
                <a:spcPct val="150000"/>
              </a:lnSpc>
              <a:buFont typeface="Arial"/>
              <a:buChar char="•"/>
            </a:pPr>
            <a:r>
              <a:rPr lang="en-IN" sz="3300" dirty="0">
                <a:latin typeface="Times New Roman"/>
                <a:ea typeface="+mn-lt"/>
                <a:cs typeface="Times New Roman"/>
              </a:rPr>
              <a:t>  Ensures secure password handling and controlled system access.</a:t>
            </a:r>
            <a:endParaRPr lang="en-IN" sz="3300" dirty="0">
              <a:latin typeface="Times New Roman"/>
              <a:ea typeface="Calibri"/>
              <a:cs typeface="Times New Roman"/>
            </a:endParaRPr>
          </a:p>
          <a:p>
            <a:pPr marL="457200" algn="just">
              <a:lnSpc>
                <a:spcPct val="150000"/>
              </a:lnSpc>
            </a:pPr>
            <a:endParaRPr lang="en-IN" sz="3300" dirty="0">
              <a:latin typeface="Times New Roman"/>
              <a:ea typeface="Calibri"/>
              <a:cs typeface="Times New Roman"/>
            </a:endParaRPr>
          </a:p>
          <a:p>
            <a:pPr algn="just">
              <a:lnSpc>
                <a:spcPct val="150000"/>
              </a:lnSpc>
            </a:pPr>
            <a:r>
              <a:rPr lang="en-IN" sz="3300" b="1" dirty="0">
                <a:latin typeface="Times New Roman"/>
                <a:cs typeface="Times New Roman"/>
              </a:rPr>
              <a:t>Module 2: Core Processing</a:t>
            </a:r>
            <a:endParaRPr lang="en-IN" sz="3300" dirty="0">
              <a:latin typeface="Times New Roman"/>
              <a:cs typeface="Times New Roman"/>
            </a:endParaRPr>
          </a:p>
          <a:p>
            <a:pPr marL="457200" algn="just">
              <a:lnSpc>
                <a:spcPct val="150000"/>
              </a:lnSpc>
              <a:buFont typeface="Arial"/>
              <a:buChar char="•"/>
            </a:pPr>
            <a:r>
              <a:rPr lang="en-IN" sz="3300" dirty="0">
                <a:latin typeface="Times New Roman"/>
                <a:ea typeface="+mn-lt"/>
                <a:cs typeface="Times New Roman"/>
              </a:rPr>
              <a:t> Handles user registration, secure login, and session management.</a:t>
            </a:r>
          </a:p>
          <a:p>
            <a:pPr marL="457200" algn="just">
              <a:lnSpc>
                <a:spcPct val="150000"/>
              </a:lnSpc>
              <a:buFont typeface="Arial"/>
              <a:buChar char="•"/>
            </a:pPr>
            <a:r>
              <a:rPr lang="en-IN" sz="3300" dirty="0">
                <a:latin typeface="Times New Roman"/>
                <a:ea typeface="+mn-lt"/>
                <a:cs typeface="Times New Roman"/>
              </a:rPr>
              <a:t> Implements role-based access control to differentiate students and instructors.</a:t>
            </a:r>
          </a:p>
          <a:p>
            <a:pPr marL="457200" algn="just">
              <a:lnSpc>
                <a:spcPct val="150000"/>
              </a:lnSpc>
              <a:buFont typeface="Arial"/>
              <a:buChar char="•"/>
            </a:pPr>
            <a:r>
              <a:rPr lang="en-IN" sz="3300" dirty="0">
                <a:latin typeface="Times New Roman"/>
                <a:ea typeface="+mn-lt"/>
                <a:cs typeface="Times New Roman"/>
              </a:rPr>
              <a:t> Ensures secure password handling and controlled system access.</a:t>
            </a:r>
            <a:endParaRPr lang="en-IN" sz="3300" dirty="0">
              <a:latin typeface="Times New Roman"/>
              <a:ea typeface="Calibri"/>
              <a:cs typeface="Times New Roman"/>
            </a:endParaRPr>
          </a:p>
          <a:p>
            <a:pPr algn="just">
              <a:lnSpc>
                <a:spcPct val="150000"/>
              </a:lnSpc>
            </a:pPr>
            <a:endParaRPr lang="en-IN" sz="3300" dirty="0">
              <a:latin typeface="Times New Roman"/>
              <a:ea typeface="+mn-lt"/>
              <a:cs typeface="Times New Roman"/>
            </a:endParaRPr>
          </a:p>
          <a:p>
            <a:pPr algn="just">
              <a:lnSpc>
                <a:spcPct val="150000"/>
              </a:lnSpc>
            </a:pPr>
            <a:endParaRPr lang="en-IN" sz="3300" dirty="0">
              <a:latin typeface="Times New Roman"/>
              <a:ea typeface="Calibri"/>
              <a:cs typeface="Times New Roman"/>
            </a:endParaRPr>
          </a:p>
          <a:p>
            <a:pPr algn="just">
              <a:lnSpc>
                <a:spcPct val="150000"/>
              </a:lnSpc>
            </a:pPr>
            <a:endParaRPr lang="en-IN" sz="3300" dirty="0">
              <a:latin typeface="Times New Roman"/>
              <a:cs typeface="Times New Roman"/>
            </a:endParaRPr>
          </a:p>
          <a:p>
            <a:pPr algn="just">
              <a:lnSpc>
                <a:spcPct val="150000"/>
              </a:lnSpc>
            </a:pPr>
            <a:endParaRPr lang="en-IN" sz="3300" dirty="0">
              <a:latin typeface="Times New Roman"/>
              <a:cs typeface="Times New Roman"/>
            </a:endParaRPr>
          </a:p>
          <a:p>
            <a:pPr algn="just">
              <a:lnSpc>
                <a:spcPct val="150000"/>
              </a:lnSpc>
            </a:pPr>
            <a:endParaRPr lang="en-IN" sz="3300" dirty="0">
              <a:latin typeface="Times New Roman"/>
              <a:cs typeface="Times New Roman"/>
            </a:endParaRPr>
          </a:p>
          <a:p>
            <a:pPr algn="just">
              <a:lnSpc>
                <a:spcPct val="150000"/>
              </a:lnSpc>
            </a:pPr>
            <a:endParaRPr lang="en-IN" sz="3300" dirty="0">
              <a:latin typeface="Times New Roman"/>
              <a:cs typeface="Times New Roman"/>
            </a:endParaRPr>
          </a:p>
          <a:p>
            <a:pPr algn="just">
              <a:lnSpc>
                <a:spcPct val="150000"/>
              </a:lnSpc>
            </a:pPr>
            <a:endParaRPr lang="en-IN" sz="330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588AB79A-AF48-31A0-B42C-3E7F2A15D023}"/>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C0213DBA-B8B1-AC82-64F0-86C0B318D6D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01B3E00F-9B00-023F-8262-9DC7E3DF88E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E1DD3791-900C-E9B7-8931-80A293591F3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73A106DE-6DC1-B3CE-406C-509561DEB33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83BBF58D-8796-1BA0-BF42-EA893BB2503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532A43B-07A6-7136-832A-F04C9DAC36C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DC6D6748-82F0-073B-E254-9C47597246DA}"/>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BCEC1321-B596-9AFD-E1D2-3C28B10568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FB39B31C-6085-B092-5981-099A273A7C3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CA8495D1-578D-3C93-103D-7B76D1B1086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2E11CFE-B14B-53B7-89A2-075D54D21F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B33B2B6-C61C-F8C4-F6B7-1B3EF35342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098151DB-2E01-BF04-5FB6-E0AEA3E2AA8A}"/>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FCFEC71-C62C-6AD9-EFC1-0A05D4FFE6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9DADEF-9A95-24CF-7F49-F078E575142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3159A81C-D71B-1AC7-8369-971CC59E246A}"/>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DD3D368-CFA5-244A-C909-3E5E098F0F5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2B9D0B65-C985-4198-AB3D-22A10266EE4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5EED6443-DB83-F17F-1706-64A156127C6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C3D41910-B265-70E5-1CE6-CAD52B150BE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11899A96-F553-3D77-58DC-B38235EA45D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1800ADFD-92A8-E477-AF64-1B57D406923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0477D7BF-DFAD-E930-7BDB-CEDA5916C49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2AFA7A4-A677-90FD-C80E-2841FE1C1D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FBB6A2FD-E04F-30B2-6C8F-AC2B7153E4BE}"/>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EE4369B9-7DF7-0EB6-F44A-0E7AE1BC320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527D102-108B-ABF4-0299-B40A5A703F4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4B1237E3-9D60-A647-9409-8D46891AE80E}"/>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48749C3F-BA40-75D0-5752-9658790730A6}"/>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7888CEF1-E39D-FD31-07EB-BCFF4C292B1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90F9304-95B0-6203-2EAC-6044F290F1D0}"/>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82B4082-63DD-3733-22AE-ACF9AADF81C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1F11F1AA-09AB-CD8E-7A5B-7F9F1EC15AAE}"/>
              </a:ext>
            </a:extLst>
          </p:cNvPr>
          <p:cNvSpPr txBox="1"/>
          <p:nvPr/>
        </p:nvSpPr>
        <p:spPr>
          <a:xfrm>
            <a:off x="2096529" y="1267598"/>
            <a:ext cx="15082325" cy="12950789"/>
          </a:xfrm>
          <a:prstGeom prst="rect">
            <a:avLst/>
          </a:prstGeom>
          <a:noFill/>
        </p:spPr>
        <p:txBody>
          <a:bodyPr wrap="square" lIns="91440" tIns="45720" rIns="91440" bIns="45720" rtlCol="0" anchor="t">
            <a:spAutoFit/>
          </a:bodyPr>
          <a:lstStyle/>
          <a:p>
            <a:pPr>
              <a:lnSpc>
                <a:spcPct val="150000"/>
              </a:lnSpc>
            </a:pPr>
            <a:endParaRPr lang="en-IN" sz="3300" b="1" dirty="0">
              <a:latin typeface="Times New Roman"/>
              <a:ea typeface="Calibri"/>
              <a:cs typeface="Times New Roman"/>
            </a:endParaRPr>
          </a:p>
          <a:p>
            <a:pPr>
              <a:lnSpc>
                <a:spcPct val="150000"/>
              </a:lnSpc>
            </a:pPr>
            <a:r>
              <a:rPr lang="en-IN" sz="3300" b="1" dirty="0">
                <a:latin typeface="Times New Roman"/>
                <a:cs typeface="Times New Roman"/>
              </a:rPr>
              <a:t>Module 3: Database Management</a:t>
            </a:r>
            <a:endParaRPr lang="en-IN" sz="3300" dirty="0">
              <a:latin typeface="Times New Roman"/>
              <a:cs typeface="Times New Roman"/>
            </a:endParaRPr>
          </a:p>
          <a:p>
            <a:pPr marL="457200">
              <a:lnSpc>
                <a:spcPct val="150000"/>
              </a:lnSpc>
              <a:buFont typeface="Arial"/>
              <a:buChar char="•"/>
            </a:pPr>
            <a:r>
              <a:rPr lang="en-IN" sz="3300" dirty="0">
                <a:latin typeface="Times New Roman"/>
                <a:ea typeface="+mn-lt"/>
                <a:cs typeface="Times New Roman"/>
              </a:rPr>
              <a:t> Enables students to submit </a:t>
            </a:r>
            <a:r>
              <a:rPr lang="en-IN" sz="3300" err="1">
                <a:latin typeface="Times New Roman"/>
                <a:ea typeface="+mn-lt"/>
                <a:cs typeface="Times New Roman"/>
              </a:rPr>
              <a:t>enrollment</a:t>
            </a:r>
            <a:r>
              <a:rPr lang="en-IN" sz="3300" dirty="0">
                <a:latin typeface="Times New Roman"/>
                <a:ea typeface="+mn-lt"/>
                <a:cs typeface="Times New Roman"/>
              </a:rPr>
              <a:t> requests for courses.</a:t>
            </a:r>
          </a:p>
          <a:p>
            <a:pPr marL="457200">
              <a:lnSpc>
                <a:spcPct val="150000"/>
              </a:lnSpc>
              <a:buFont typeface="Arial"/>
              <a:buChar char="•"/>
            </a:pPr>
            <a:r>
              <a:rPr lang="en-IN" sz="3300" dirty="0">
                <a:latin typeface="Times New Roman"/>
                <a:ea typeface="+mn-lt"/>
                <a:cs typeface="Times New Roman"/>
              </a:rPr>
              <a:t> Allows instructors to approve or reject requests through a controlled workflow.</a:t>
            </a:r>
          </a:p>
          <a:p>
            <a:pPr marL="457200">
              <a:lnSpc>
                <a:spcPct val="150000"/>
              </a:lnSpc>
              <a:buFont typeface="Arial"/>
              <a:buChar char="•"/>
            </a:pPr>
            <a:r>
              <a:rPr lang="en-IN" sz="3300" dirty="0">
                <a:latin typeface="Times New Roman"/>
                <a:ea typeface="+mn-lt"/>
                <a:cs typeface="Times New Roman"/>
              </a:rPr>
              <a:t> Maintains </a:t>
            </a:r>
            <a:r>
              <a:rPr lang="en-IN" sz="3300" err="1">
                <a:latin typeface="Times New Roman"/>
                <a:ea typeface="+mn-lt"/>
                <a:cs typeface="Times New Roman"/>
              </a:rPr>
              <a:t>enrollment</a:t>
            </a:r>
            <a:r>
              <a:rPr lang="en-IN" sz="3300" dirty="0">
                <a:latin typeface="Times New Roman"/>
                <a:ea typeface="+mn-lt"/>
                <a:cs typeface="Times New Roman"/>
              </a:rPr>
              <a:t> status and ensures structured access to courses.</a:t>
            </a:r>
            <a:endParaRPr lang="en-IN" sz="3300" dirty="0">
              <a:latin typeface="Times New Roman"/>
              <a:ea typeface="Calibri"/>
              <a:cs typeface="Times New Roman"/>
            </a:endParaRPr>
          </a:p>
          <a:p>
            <a:pPr marL="457200">
              <a:lnSpc>
                <a:spcPct val="150000"/>
              </a:lnSpc>
            </a:pPr>
            <a:endParaRPr lang="en-IN" sz="3300" dirty="0">
              <a:latin typeface="Times New Roman"/>
              <a:ea typeface="Calibri"/>
              <a:cs typeface="Times New Roman"/>
            </a:endParaRPr>
          </a:p>
          <a:p>
            <a:pPr>
              <a:lnSpc>
                <a:spcPct val="150000"/>
              </a:lnSpc>
            </a:pPr>
            <a:r>
              <a:rPr lang="en-IN" sz="3300" b="1" dirty="0">
                <a:latin typeface="Times New Roman"/>
                <a:cs typeface="Times New Roman"/>
              </a:rPr>
              <a:t>Module 4: Reporting &amp; Analytics</a:t>
            </a:r>
            <a:endParaRPr lang="en-IN" sz="3300" dirty="0">
              <a:latin typeface="Times New Roman"/>
              <a:cs typeface="Times New Roman"/>
            </a:endParaRPr>
          </a:p>
          <a:p>
            <a:pPr marL="457200">
              <a:lnSpc>
                <a:spcPct val="150000"/>
              </a:lnSpc>
              <a:buFont typeface="Arial"/>
              <a:buChar char="•"/>
            </a:pPr>
            <a:r>
              <a:rPr lang="en-IN" sz="3300" dirty="0">
                <a:latin typeface="Times New Roman"/>
                <a:ea typeface="+mn-lt"/>
                <a:cs typeface="Times New Roman"/>
              </a:rPr>
              <a:t> Tracks student learning progress and updates completion percentage.</a:t>
            </a:r>
          </a:p>
          <a:p>
            <a:pPr marL="457200">
              <a:lnSpc>
                <a:spcPct val="150000"/>
              </a:lnSpc>
              <a:buFont typeface="Arial"/>
              <a:buChar char="•"/>
            </a:pPr>
            <a:r>
              <a:rPr lang="en-IN" sz="3300" dirty="0">
                <a:latin typeface="Times New Roman"/>
                <a:ea typeface="+mn-lt"/>
                <a:cs typeface="Times New Roman"/>
              </a:rPr>
              <a:t> Generates AI-based course recommendations based on user activity and preferences.</a:t>
            </a:r>
          </a:p>
          <a:p>
            <a:pPr marL="457200">
              <a:lnSpc>
                <a:spcPct val="150000"/>
              </a:lnSpc>
              <a:buFont typeface="Arial"/>
              <a:buChar char="•"/>
            </a:pPr>
            <a:r>
              <a:rPr lang="en-IN" sz="3300" dirty="0">
                <a:latin typeface="Times New Roman"/>
                <a:ea typeface="+mn-lt"/>
                <a:cs typeface="Times New Roman"/>
              </a:rPr>
              <a:t> Provides analytical insights to enhance personalized learning experience.</a:t>
            </a:r>
            <a:endParaRPr lang="en-IN" sz="3300" dirty="0">
              <a:latin typeface="Times New Roman"/>
              <a:ea typeface="Calibri"/>
              <a:cs typeface="Times New Roman"/>
            </a:endParaRPr>
          </a:p>
          <a:p>
            <a:pPr>
              <a:lnSpc>
                <a:spcPct val="150000"/>
              </a:lnSpc>
            </a:pPr>
            <a:endParaRPr lang="en-IN" sz="3300" dirty="0">
              <a:latin typeface="Times New Roman"/>
              <a:ea typeface="+mn-lt"/>
              <a:cs typeface="Times New Roman"/>
            </a:endParaRPr>
          </a:p>
          <a:p>
            <a:pPr>
              <a:lnSpc>
                <a:spcPct val="150000"/>
              </a:lnSpc>
            </a:pPr>
            <a:endParaRPr lang="en-IN" sz="3300" dirty="0">
              <a:latin typeface="Times New Roman"/>
              <a:ea typeface="Calibri"/>
              <a:cs typeface="Times New Roman"/>
            </a:endParaRPr>
          </a:p>
          <a:p>
            <a:pPr>
              <a:lnSpc>
                <a:spcPct val="150000"/>
              </a:lnSpc>
            </a:pPr>
            <a:endParaRPr lang="en-IN" sz="3300" dirty="0">
              <a:latin typeface="Times New Roman"/>
              <a:cs typeface="Times New Roman"/>
            </a:endParaRPr>
          </a:p>
          <a:p>
            <a:pPr>
              <a:lnSpc>
                <a:spcPct val="150000"/>
              </a:lnSpc>
            </a:pPr>
            <a:endParaRPr lang="en-IN" sz="3300" dirty="0">
              <a:latin typeface="Times New Roman"/>
              <a:cs typeface="Times New Roman"/>
            </a:endParaRPr>
          </a:p>
          <a:p>
            <a:pPr>
              <a:lnSpc>
                <a:spcPct val="150000"/>
              </a:lnSpc>
            </a:pPr>
            <a:endParaRPr lang="en-IN" sz="3300" dirty="0">
              <a:latin typeface="Times New Roman"/>
              <a:cs typeface="Times New Roman"/>
            </a:endParaRPr>
          </a:p>
          <a:p>
            <a:pPr>
              <a:lnSpc>
                <a:spcPct val="150000"/>
              </a:lnSpc>
            </a:pPr>
            <a:endParaRPr lang="en-IN" sz="3300" dirty="0">
              <a:latin typeface="Times New Roman"/>
              <a:cs typeface="Times New Roman"/>
            </a:endParaRPr>
          </a:p>
          <a:p>
            <a:pPr>
              <a:lnSpc>
                <a:spcPct val="150000"/>
              </a:lnSpc>
            </a:pPr>
            <a:endParaRPr lang="en-IN" sz="3300" dirty="0">
              <a:latin typeface="Times New Roman"/>
              <a:cs typeface="Times New Roman"/>
            </a:endParaRPr>
          </a:p>
        </p:txBody>
      </p:sp>
    </p:spTree>
    <p:extLst>
      <p:ext uri="{BB962C8B-B14F-4D97-AF65-F5344CB8AC3E}">
        <p14:creationId xmlns:p14="http://schemas.microsoft.com/office/powerpoint/2010/main" val="1493253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AB7E7021-5A74-0BDD-C2F2-3E197CFEF928}"/>
              </a:ext>
            </a:extLst>
          </p:cNvPr>
          <p:cNvPicPr>
            <a:picLocks noChangeAspect="1"/>
          </p:cNvPicPr>
          <p:nvPr/>
        </p:nvPicPr>
        <p:blipFill>
          <a:blip r:embed="rId3"/>
          <a:stretch>
            <a:fillRect/>
          </a:stretch>
        </p:blipFill>
        <p:spPr>
          <a:xfrm>
            <a:off x="3759766" y="1894700"/>
            <a:ext cx="11180361" cy="6054813"/>
          </a:xfrm>
          <a:prstGeom prst="rect">
            <a:avLst/>
          </a:prstGeom>
        </p:spPr>
      </p:pic>
      <p:sp>
        <p:nvSpPr>
          <p:cNvPr id="3" name="TextBox 2">
            <a:extLst>
              <a:ext uri="{FF2B5EF4-FFF2-40B4-BE49-F238E27FC236}">
                <a16:creationId xmlns:a16="http://schemas.microsoft.com/office/drawing/2014/main" id="{D0BE051D-C444-9299-D263-3986D7DE4537}"/>
              </a:ext>
            </a:extLst>
          </p:cNvPr>
          <p:cNvSpPr txBox="1"/>
          <p:nvPr/>
        </p:nvSpPr>
        <p:spPr>
          <a:xfrm>
            <a:off x="2164556" y="1152009"/>
            <a:ext cx="39433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sz="2800" b="1" dirty="0">
                <a:latin typeface="Times New Roman"/>
                <a:ea typeface="Calibri"/>
                <a:cs typeface="Times New Roman"/>
              </a:rPr>
              <a:t>Home Page:</a:t>
            </a:r>
          </a:p>
        </p:txBody>
      </p:sp>
      <p:sp>
        <p:nvSpPr>
          <p:cNvPr id="5" name="TextBox 4">
            <a:extLst>
              <a:ext uri="{FF2B5EF4-FFF2-40B4-BE49-F238E27FC236}">
                <a16:creationId xmlns:a16="http://schemas.microsoft.com/office/drawing/2014/main" id="{9384622D-A1BF-7358-791B-E643497B0646}"/>
              </a:ext>
            </a:extLst>
          </p:cNvPr>
          <p:cNvSpPr txBox="1"/>
          <p:nvPr/>
        </p:nvSpPr>
        <p:spPr>
          <a:xfrm>
            <a:off x="2164808" y="8155064"/>
            <a:ext cx="14593051" cy="13075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gn="just">
              <a:lnSpc>
                <a:spcPct val="150000"/>
              </a:lnSpc>
              <a:buFont typeface="Wingdings"/>
              <a:buChar char="Ø"/>
            </a:pPr>
            <a:r>
              <a:rPr lang="en-US" sz="2800" dirty="0">
                <a:latin typeface="Times New Roman"/>
                <a:ea typeface="+mn-lt"/>
                <a:cs typeface="Times New Roman"/>
              </a:rPr>
              <a:t>The Home Page provides an overview of the Skill Academy AI platform with navigation options for courses, login, and dashboard access. It serves as the primary entry point to the system.</a:t>
            </a:r>
            <a:endParaRPr lang="en-US" sz="2800" dirty="0">
              <a:latin typeface="Times New Roman"/>
              <a:ea typeface="Calibri"/>
              <a:cs typeface="Times New Roman"/>
            </a:endParaRPr>
          </a:p>
        </p:txBody>
      </p:sp>
    </p:spTree>
    <p:extLst>
      <p:ext uri="{BB962C8B-B14F-4D97-AF65-F5344CB8AC3E}">
        <p14:creationId xmlns:p14="http://schemas.microsoft.com/office/powerpoint/2010/main" val="1998101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2CDE4415-F4B0-0121-50AD-0C2BC5389172}"/>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7E147F43-D9B0-FDB7-35FD-CB877247CE95}"/>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223BACCB-7676-9406-30CE-BAEC433E8C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52B6D39-04A2-A758-BE51-4F1BDE5108A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4A4FAEE5-3DD5-36B6-70EF-05F252AD7F82}"/>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E204C28B-198B-E9B6-1AA5-1EAFAFEB93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F6458E45-8BFB-DDB1-6897-462013CFE75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A5D2C397-3315-002E-80B7-9662EA1DFEA7}"/>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99460047-89DA-3EA3-82C8-2E527011307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FFB5DBD-A167-3447-B903-BCC44FF877A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790429E1-4558-26D8-5AA5-7BE51B64CD8D}"/>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5984ED7E-509B-C26F-4BA9-4E55CF823EC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DD6976BF-4B1B-E1BA-28B6-E1AFFC0F412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D3EEA1C-FFD2-3AAB-7D44-72B464F6A96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9B70AC4A-977C-5267-99FF-77271B37557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6E71A753-BCAB-C633-AC00-F571E57657E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3B3ECA3E-CF49-5966-0630-203892E8D091}"/>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537D2429-FA16-D63E-B6B0-32B8E27FEEE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6CF4FE6B-4F55-5F76-A51F-9BDE03AB44B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06BAA723-0B10-9120-92BD-E9E571C20E6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F0609413-F442-D87F-A85E-F257A88B03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CD796FFB-EA56-D032-2179-E3970088143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688E09F4-ABFA-2C9A-11F9-85828DF68AE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30C43244-9F2F-33AB-5825-E2073ED32D2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D09D2B32-3BC4-4E2F-2532-FCED1E30DE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BF94B1B-504A-3D05-8B67-9484BB0E29B1}"/>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DAF8FFB9-7C1D-1E29-FA3A-2740B734D4D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EFF35594-860F-1453-7591-C5518E758B3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273F6CC-17B4-A97A-920A-52C9EB46FB08}"/>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865561B3-F04F-A541-3B95-9EBBD4955EE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A6091F-5834-10F2-19CA-21A0FEE89E0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FC6AE13-7F75-93F5-3970-BD6AF485AD9F}"/>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35BA3A5-953C-21C5-78F2-132BB17EBAF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1BD103BD-F591-CA58-CF5D-2BCE78A3D1F7}"/>
              </a:ext>
            </a:extLst>
          </p:cNvPr>
          <p:cNvPicPr>
            <a:picLocks noChangeAspect="1"/>
          </p:cNvPicPr>
          <p:nvPr/>
        </p:nvPicPr>
        <p:blipFill>
          <a:blip r:embed="rId3"/>
          <a:stretch>
            <a:fillRect/>
          </a:stretch>
        </p:blipFill>
        <p:spPr>
          <a:xfrm>
            <a:off x="2110946" y="1602240"/>
            <a:ext cx="15054650" cy="6701520"/>
          </a:xfrm>
          <a:prstGeom prst="rect">
            <a:avLst/>
          </a:prstGeom>
        </p:spPr>
      </p:pic>
    </p:spTree>
    <p:extLst>
      <p:ext uri="{BB962C8B-B14F-4D97-AF65-F5344CB8AC3E}">
        <p14:creationId xmlns:p14="http://schemas.microsoft.com/office/powerpoint/2010/main" val="226083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3578C91E-064D-31FC-F51A-BED651B17250}"/>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3BFC98FA-B885-FDD3-30EB-139A1BF0AB1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4952A94C-D9D1-C24D-56A4-466198FC87E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1FEF1B02-72B4-7BD9-A9D3-4CFCFCBF27D5}"/>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0FD14472-7E25-78A3-63B4-FC341DD9C5A4}"/>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1209B1FB-39A7-CAF1-C08F-BECEC148DA6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2E990DB2-F949-2A16-1A27-E6D557D6FD8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2F9F50B6-13FA-CC6B-FCE2-3756500E3659}"/>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968DDAA2-76D0-5D7A-580F-73E733BECE0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9429B824-D0C2-8AB1-1B4A-C87C4A06713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99424BC8-F52D-5B3C-BD3E-387801F4138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509A41A4-3BF2-8832-BAB5-E97E4D87AD9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D8225646-3801-1981-676B-43F049AAB7D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BE728F-481F-950D-5AE3-2EC8B4796D30}"/>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81A595DB-0E3E-0B11-129F-50BB70E8B46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5E885315-7B84-19A0-3171-83CA1A1712E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F6C459C5-04F0-D301-53B7-573C5F13AEE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3616B127-44D6-3D73-B43F-CBCD0C5A891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662B6DFE-DE6E-93D4-0447-110B27A4E0C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0F6EB3D2-E08C-E014-1294-CF27801A97E5}"/>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4301D693-6E46-94A6-A4AE-83636EB823E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1D9551B4-08A0-F6EE-FC6E-AFF275E834C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E193F608-2FA3-7B0C-3880-91989EDAA511}"/>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0BF6427-8481-2D75-BD71-D26568B43AA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36458389-33E4-3AE1-4CE5-28BAE75B600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12A74250-8EFF-3D28-625A-94561154CA0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96594E02-73E3-2D63-D209-7F72EF85FF3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6051D6A-31B9-C47B-ADDC-CBBB61D429C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EAE99DA8-4FA9-7388-4B4A-EA4A36A5801C}"/>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6A47DCD5-BDF1-2266-9733-00828D74F349}"/>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75786990-01F9-5D1E-1997-A1B935EF69F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C66B953E-8E7F-5CF2-8571-9CD20EC41056}"/>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56942BEE-B0E4-33EA-9484-B6203123E08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FF56AB4-7625-EB22-6CE0-812EFA9197FE}"/>
              </a:ext>
            </a:extLst>
          </p:cNvPr>
          <p:cNvPicPr>
            <a:picLocks noChangeAspect="1"/>
          </p:cNvPicPr>
          <p:nvPr/>
        </p:nvPicPr>
        <p:blipFill>
          <a:blip r:embed="rId3"/>
          <a:stretch>
            <a:fillRect/>
          </a:stretch>
        </p:blipFill>
        <p:spPr>
          <a:xfrm>
            <a:off x="2574323" y="1547843"/>
            <a:ext cx="14035217" cy="7181012"/>
          </a:xfrm>
          <a:prstGeom prst="rect">
            <a:avLst/>
          </a:prstGeom>
        </p:spPr>
      </p:pic>
    </p:spTree>
    <p:extLst>
      <p:ext uri="{BB962C8B-B14F-4D97-AF65-F5344CB8AC3E}">
        <p14:creationId xmlns:p14="http://schemas.microsoft.com/office/powerpoint/2010/main" val="1117047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2C488297-F40C-4CB0-D512-C7C6EC17C423}"/>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24A93996-E91E-3BF3-9223-EF140D030668}"/>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515DFA24-98FE-E688-B97F-AF6E2385F8A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1878504E-8645-1167-1766-3ED116B7FF14}"/>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A989A008-B39C-855D-8FA7-D0F01963F357}"/>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1D63DF7C-7642-D729-26C4-3D5B2706F6A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F06A6DB5-BF63-DF7F-93DF-FF3557AABAE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694FED12-1098-6560-AC7C-A99A2642BF8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8ECADEDD-085F-E653-4FB2-919A321A413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FF9BDBB8-293A-1E19-3AF7-22118117EF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ED8ED198-51C5-4711-9F07-E17B0BB01BB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781A84B0-08D7-B68B-D884-07B540E5DA2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6E8787DD-9BD5-5AC7-8C4B-A4D8ED2521A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172F5DC2-66C6-8447-19C6-3569B651097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754216A6-C44F-4182-2685-8D5BCE1C684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6E882AD2-0EDE-41CD-BEE4-4759D83050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D6133120-632F-D85A-7D4A-E9C49EC910A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34B2D8BF-E747-925A-BC13-6B53ECA726F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702109DA-BF7A-5D84-A4D4-16F04304E39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D90FD8B7-1418-D6B4-A9AD-A24F4443310F}"/>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6CB2E18C-FA28-A8EC-61F7-99818FF37A9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F3498B6-F8F1-DBAE-9683-D87C084F495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5B139D6E-FB64-E92A-CB97-DAA94F32744B}"/>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5C44BBB0-9692-5C73-FC3A-42F8AD1AE3F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3BA42873-74B1-6F46-75B7-8061430908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F4CF4BB-653D-154E-FF06-D3D8D326B449}"/>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38773A62-D82C-0303-CC75-A0D7BC3F4BD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0E9A06D9-06CF-6257-D515-FCFBDB694C3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D8F8F44-3F89-F285-6C61-76ABBFB4D7A9}"/>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F871C793-A946-4EA8-D7A9-042C8A6F5A17}"/>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CEC5926D-3314-591C-BD6F-E1221D94522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BB27EA5-FFEE-0511-0E8C-C6A2AE6382E5}"/>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5C688F40-8B2A-56FD-7F53-F32DFF0C3669}"/>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75E15E2-E428-682B-2DA8-BD6433EE182F}"/>
              </a:ext>
            </a:extLst>
          </p:cNvPr>
          <p:cNvSpPr txBox="1"/>
          <p:nvPr/>
        </p:nvSpPr>
        <p:spPr>
          <a:xfrm>
            <a:off x="1738441" y="1026254"/>
            <a:ext cx="540067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Times New Roman"/>
                <a:ea typeface="Calibri"/>
                <a:cs typeface="Times New Roman"/>
              </a:rPr>
              <a:t>2. Sign-in Page : </a:t>
            </a:r>
          </a:p>
        </p:txBody>
      </p:sp>
      <p:pic>
        <p:nvPicPr>
          <p:cNvPr id="4" name="Picture 3">
            <a:extLst>
              <a:ext uri="{FF2B5EF4-FFF2-40B4-BE49-F238E27FC236}">
                <a16:creationId xmlns:a16="http://schemas.microsoft.com/office/drawing/2014/main" id="{2A36220C-1A6E-28CE-71A1-E0E7E87D1EF8}"/>
              </a:ext>
            </a:extLst>
          </p:cNvPr>
          <p:cNvPicPr>
            <a:picLocks noChangeAspect="1"/>
          </p:cNvPicPr>
          <p:nvPr/>
        </p:nvPicPr>
        <p:blipFill>
          <a:blip r:embed="rId3"/>
          <a:stretch>
            <a:fillRect/>
          </a:stretch>
        </p:blipFill>
        <p:spPr>
          <a:xfrm>
            <a:off x="2248836" y="1596079"/>
            <a:ext cx="14294893" cy="6703542"/>
          </a:xfrm>
          <a:prstGeom prst="rect">
            <a:avLst/>
          </a:prstGeom>
        </p:spPr>
      </p:pic>
      <p:sp>
        <p:nvSpPr>
          <p:cNvPr id="6" name="TextBox 5">
            <a:extLst>
              <a:ext uri="{FF2B5EF4-FFF2-40B4-BE49-F238E27FC236}">
                <a16:creationId xmlns:a16="http://schemas.microsoft.com/office/drawing/2014/main" id="{0DCC4FBB-C051-BE11-5C40-C1645E19C3BA}"/>
              </a:ext>
            </a:extLst>
          </p:cNvPr>
          <p:cNvSpPr txBox="1"/>
          <p:nvPr/>
        </p:nvSpPr>
        <p:spPr>
          <a:xfrm>
            <a:off x="2116490" y="8299423"/>
            <a:ext cx="14045711" cy="19538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ct val="150000"/>
              </a:lnSpc>
              <a:buFont typeface="Wingdings"/>
              <a:buChar char="Ø"/>
            </a:pPr>
            <a:r>
              <a:rPr lang="en-US" sz="2800" dirty="0">
                <a:latin typeface="Times New Roman"/>
                <a:ea typeface="+mn-lt"/>
                <a:cs typeface="Times New Roman"/>
              </a:rPr>
              <a:t>The Sign-Up Page allows new users to create an account by selecting their role and providing required credentials. It securely stores user data in the database to enable authenticated access to the system.</a:t>
            </a:r>
            <a:endParaRPr lang="en-US" sz="2800">
              <a:latin typeface="Times New Roman"/>
              <a:ea typeface="Calibri"/>
              <a:cs typeface="Times New Roman"/>
            </a:endParaRPr>
          </a:p>
        </p:txBody>
      </p:sp>
    </p:spTree>
    <p:extLst>
      <p:ext uri="{BB962C8B-B14F-4D97-AF65-F5344CB8AC3E}">
        <p14:creationId xmlns:p14="http://schemas.microsoft.com/office/powerpoint/2010/main" val="2912735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AD27C6C8-419A-D2F2-AAA3-C7D9BD1B7C4D}"/>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DA7DB1E-7489-28DD-1794-BFB470FA0422}"/>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0AD69F89-1AD6-2C16-7275-E422185189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3F21F9A5-F3C0-61A1-15F6-255A762FDE6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D3349D4E-251C-17F4-378C-56BBCDF3E3A5}"/>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14528CCA-FAF1-95E6-472E-545AEC123AE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4E475519-F700-610F-4AA1-9337D1CFCAF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7F99612F-E09C-6AF6-6A26-E8F27F16E827}"/>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4BE79F27-9D73-D880-088E-B3F5B97C43D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2B6BF1B-2270-2C74-F90B-2A024AAA2CE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6D4BB17E-9784-CDC7-655C-139400D76376}"/>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BFC7097-6778-E73E-ADD8-4B4C9892082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195F0F22-209C-E3BD-6FAB-29FB08C65F7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00865-D525-D033-C123-C291520906DE}"/>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8187C8-6E3A-7460-D343-4823A2FB4EE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32362A1-57D4-978F-808C-21BBABA638A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EAFDDF54-9634-CC39-241E-1CC5274548E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DB0E037B-0367-D495-869C-152F8A788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9EC5F2B2-53EB-166B-1948-1E9F077B3EB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FA3D8AE-5BB5-A518-89BE-32E5FB285220}"/>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440D7572-9667-AC32-8D80-B10296E9D8F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E97ECB14-C30E-68B8-73EF-931A793D304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6C57207B-CC58-ABC2-C582-29512300ADF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37A5FE08-B479-6CF6-642C-87F05626CEC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3055CD-915B-3AAD-7667-77F5390FA81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609F1880-23F2-7002-F753-B7AF43D8807B}"/>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8146A8A-5D18-3B43-2682-DFFD415F533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EA3A38EC-A4E8-3766-BCE7-DB70F37749A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53B2A360-935F-2651-A94C-8A126CD8700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358DDF5C-038B-42CC-E19D-0443943ECC0A}"/>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48B401DB-C8E1-AEB9-97F4-EA91D2459C4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6A4A39F-9A8E-3E58-0E0A-048024DDD9F6}"/>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0217BDA0-CD84-D2B9-31E8-B2A68A745C8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6073D0A-5A1E-98DE-3225-204E30420762}"/>
              </a:ext>
            </a:extLst>
          </p:cNvPr>
          <p:cNvSpPr txBox="1"/>
          <p:nvPr/>
        </p:nvSpPr>
        <p:spPr>
          <a:xfrm>
            <a:off x="1738441" y="1180713"/>
            <a:ext cx="540067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Times New Roman"/>
                <a:ea typeface="Calibri"/>
                <a:cs typeface="Times New Roman"/>
              </a:rPr>
              <a:t>2. Login Page : </a:t>
            </a:r>
          </a:p>
        </p:txBody>
      </p:sp>
      <p:pic>
        <p:nvPicPr>
          <p:cNvPr id="2" name="Picture 1">
            <a:extLst>
              <a:ext uri="{FF2B5EF4-FFF2-40B4-BE49-F238E27FC236}">
                <a16:creationId xmlns:a16="http://schemas.microsoft.com/office/drawing/2014/main" id="{46B813B8-45B9-40B7-7815-84AF1C5A72D6}"/>
              </a:ext>
            </a:extLst>
          </p:cNvPr>
          <p:cNvPicPr>
            <a:picLocks noChangeAspect="1"/>
          </p:cNvPicPr>
          <p:nvPr/>
        </p:nvPicPr>
        <p:blipFill>
          <a:blip r:embed="rId3"/>
          <a:stretch>
            <a:fillRect/>
          </a:stretch>
        </p:blipFill>
        <p:spPr>
          <a:xfrm>
            <a:off x="2034230" y="1986606"/>
            <a:ext cx="14415186" cy="6169624"/>
          </a:xfrm>
          <a:prstGeom prst="rect">
            <a:avLst/>
          </a:prstGeom>
        </p:spPr>
      </p:pic>
      <p:sp>
        <p:nvSpPr>
          <p:cNvPr id="5" name="TextBox 4">
            <a:extLst>
              <a:ext uri="{FF2B5EF4-FFF2-40B4-BE49-F238E27FC236}">
                <a16:creationId xmlns:a16="http://schemas.microsoft.com/office/drawing/2014/main" id="{A5905503-068D-B932-2883-7488FA812DAF}"/>
              </a:ext>
            </a:extLst>
          </p:cNvPr>
          <p:cNvSpPr txBox="1"/>
          <p:nvPr/>
        </p:nvSpPr>
        <p:spPr>
          <a:xfrm>
            <a:off x="2376695" y="8504973"/>
            <a:ext cx="13715999" cy="13075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gn="just">
              <a:lnSpc>
                <a:spcPct val="150000"/>
              </a:lnSpc>
              <a:buFont typeface="Wingdings"/>
              <a:buChar char="Ø"/>
            </a:pPr>
            <a:r>
              <a:rPr lang="en-US" sz="2800" dirty="0">
                <a:latin typeface="Times New Roman"/>
                <a:ea typeface="+mn-lt"/>
                <a:cs typeface="Times New Roman"/>
              </a:rPr>
              <a:t>The Login Page implements secure authentication using role-based access control for students and instructors. It ensures controlled system access through session management.</a:t>
            </a:r>
            <a:endParaRPr lang="en-US" sz="2800">
              <a:latin typeface="Times New Roman"/>
              <a:cs typeface="Times New Roman"/>
            </a:endParaRPr>
          </a:p>
        </p:txBody>
      </p:sp>
    </p:spTree>
    <p:extLst>
      <p:ext uri="{BB962C8B-B14F-4D97-AF65-F5344CB8AC3E}">
        <p14:creationId xmlns:p14="http://schemas.microsoft.com/office/powerpoint/2010/main" val="4256537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3D54C14-7948-7166-4310-8C626FD01213}"/>
              </a:ext>
            </a:extLst>
          </p:cNvPr>
          <p:cNvPicPr>
            <a:picLocks noChangeAspect="1"/>
          </p:cNvPicPr>
          <p:nvPr/>
        </p:nvPicPr>
        <p:blipFill>
          <a:blip r:embed="rId3"/>
          <a:stretch>
            <a:fillRect/>
          </a:stretch>
        </p:blipFill>
        <p:spPr>
          <a:xfrm>
            <a:off x="2836152" y="1791729"/>
            <a:ext cx="12523016" cy="6507893"/>
          </a:xfrm>
          <a:prstGeom prst="rect">
            <a:avLst/>
          </a:prstGeom>
        </p:spPr>
      </p:pic>
      <p:sp>
        <p:nvSpPr>
          <p:cNvPr id="3" name="TextBox 2">
            <a:extLst>
              <a:ext uri="{FF2B5EF4-FFF2-40B4-BE49-F238E27FC236}">
                <a16:creationId xmlns:a16="http://schemas.microsoft.com/office/drawing/2014/main" id="{BAEFE994-0D80-C9B8-0ADA-447471E53DD9}"/>
              </a:ext>
            </a:extLst>
          </p:cNvPr>
          <p:cNvSpPr txBox="1"/>
          <p:nvPr/>
        </p:nvSpPr>
        <p:spPr>
          <a:xfrm>
            <a:off x="1868443" y="1143643"/>
            <a:ext cx="435054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Times New Roman"/>
                <a:ea typeface="Calibri"/>
                <a:cs typeface="Times New Roman"/>
              </a:rPr>
              <a:t>3. Student Dashboard :</a:t>
            </a:r>
          </a:p>
        </p:txBody>
      </p:sp>
      <p:sp>
        <p:nvSpPr>
          <p:cNvPr id="4" name="TextBox 3">
            <a:extLst>
              <a:ext uri="{FF2B5EF4-FFF2-40B4-BE49-F238E27FC236}">
                <a16:creationId xmlns:a16="http://schemas.microsoft.com/office/drawing/2014/main" id="{B32EBFEE-1966-741A-5962-6457F705C512}"/>
              </a:ext>
            </a:extLst>
          </p:cNvPr>
          <p:cNvSpPr txBox="1"/>
          <p:nvPr/>
        </p:nvSpPr>
        <p:spPr>
          <a:xfrm>
            <a:off x="1868959" y="8330909"/>
            <a:ext cx="15664168" cy="19538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gn="just">
              <a:lnSpc>
                <a:spcPct val="150000"/>
              </a:lnSpc>
              <a:buFont typeface="Wingdings"/>
              <a:buChar char="Ø"/>
            </a:pPr>
            <a:r>
              <a:rPr lang="en-US" sz="2800" dirty="0">
                <a:latin typeface="Times New Roman"/>
                <a:ea typeface="+mn-lt"/>
                <a:cs typeface="Times New Roman"/>
              </a:rPr>
              <a:t>The Student Dashboard allows users to view available courses, request enrollments, track learning progress, and access AI-based course recommendations. It provides a personalized learning interface.</a:t>
            </a:r>
            <a:endParaRPr lang="en-US" sz="2800">
              <a:latin typeface="Times New Roman"/>
              <a:cs typeface="Times New Roman"/>
            </a:endParaRPr>
          </a:p>
          <a:p>
            <a:pPr marL="457200" indent="-457200" algn="l">
              <a:lnSpc>
                <a:spcPct val="150000"/>
              </a:lnSpc>
              <a:buFont typeface="Wingdings"/>
              <a:buChar char="Ø"/>
            </a:pPr>
            <a:endParaRPr lang="en-US" sz="2800" dirty="0">
              <a:latin typeface="Times New Roman"/>
              <a:ea typeface="Calibri"/>
              <a:cs typeface="Times New Roman"/>
            </a:endParaRPr>
          </a:p>
        </p:txBody>
      </p:sp>
    </p:spTree>
    <p:extLst>
      <p:ext uri="{BB962C8B-B14F-4D97-AF65-F5344CB8AC3E}">
        <p14:creationId xmlns:p14="http://schemas.microsoft.com/office/powerpoint/2010/main" val="3981187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0F485788-6C04-B254-37A3-F9BC1078A901}"/>
              </a:ext>
            </a:extLst>
          </p:cNvPr>
          <p:cNvSpPr txBox="1"/>
          <p:nvPr/>
        </p:nvSpPr>
        <p:spPr>
          <a:xfrm>
            <a:off x="1729747" y="1266172"/>
            <a:ext cx="633046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latin typeface="Times New Roman"/>
                <a:ea typeface="Calibri"/>
                <a:cs typeface="Times New Roman"/>
              </a:rPr>
              <a:t>4. Instructor Dashboard :</a:t>
            </a:r>
            <a:endParaRPr lang="en-US" sz="3200" b="1">
              <a:latin typeface="Times New Roman"/>
              <a:cs typeface="Times New Roman"/>
            </a:endParaRPr>
          </a:p>
        </p:txBody>
      </p:sp>
      <p:pic>
        <p:nvPicPr>
          <p:cNvPr id="3" name="Picture 2">
            <a:extLst>
              <a:ext uri="{FF2B5EF4-FFF2-40B4-BE49-F238E27FC236}">
                <a16:creationId xmlns:a16="http://schemas.microsoft.com/office/drawing/2014/main" id="{34BADAA1-2391-89EF-65A6-406DFB81E0C0}"/>
              </a:ext>
            </a:extLst>
          </p:cNvPr>
          <p:cNvPicPr>
            <a:picLocks noChangeAspect="1"/>
          </p:cNvPicPr>
          <p:nvPr/>
        </p:nvPicPr>
        <p:blipFill>
          <a:blip r:embed="rId3"/>
          <a:stretch>
            <a:fillRect/>
          </a:stretch>
        </p:blipFill>
        <p:spPr>
          <a:xfrm>
            <a:off x="2637672" y="1987380"/>
            <a:ext cx="12590467" cy="6034215"/>
          </a:xfrm>
          <a:prstGeom prst="rect">
            <a:avLst/>
          </a:prstGeom>
        </p:spPr>
      </p:pic>
      <p:sp>
        <p:nvSpPr>
          <p:cNvPr id="4" name="TextBox 3">
            <a:extLst>
              <a:ext uri="{FF2B5EF4-FFF2-40B4-BE49-F238E27FC236}">
                <a16:creationId xmlns:a16="http://schemas.microsoft.com/office/drawing/2014/main" id="{0B9499CA-6FA9-13F3-9B5A-EE17F4BFD9F5}"/>
              </a:ext>
            </a:extLst>
          </p:cNvPr>
          <p:cNvSpPr txBox="1"/>
          <p:nvPr/>
        </p:nvSpPr>
        <p:spPr>
          <a:xfrm>
            <a:off x="2212730" y="8328137"/>
            <a:ext cx="14243538" cy="19538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gn="just">
              <a:lnSpc>
                <a:spcPct val="150000"/>
              </a:lnSpc>
              <a:buFont typeface="Wingdings"/>
              <a:buChar char="Ø"/>
            </a:pPr>
            <a:r>
              <a:rPr lang="en-US" sz="2800" dirty="0">
                <a:latin typeface="Times New Roman"/>
                <a:ea typeface="+mn-lt"/>
                <a:cs typeface="Times New Roman"/>
              </a:rPr>
              <a:t>The Instructor Dashboard enables course creation, modification, and enrollment approval management. It also provides analytical insights for monitoring student participation and course performance.</a:t>
            </a:r>
            <a:endParaRPr lang="en-US" sz="2800">
              <a:latin typeface="Times New Roman"/>
              <a:cs typeface="Times New Roman"/>
            </a:endParaRPr>
          </a:p>
        </p:txBody>
      </p:sp>
    </p:spTree>
    <p:extLst>
      <p:ext uri="{BB962C8B-B14F-4D97-AF65-F5344CB8AC3E}">
        <p14:creationId xmlns:p14="http://schemas.microsoft.com/office/powerpoint/2010/main" val="47544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68748CE-FC92-8D2B-FEB8-CA386376FA8A}"/>
              </a:ext>
            </a:extLst>
          </p:cNvPr>
          <p:cNvSpPr txBox="1"/>
          <p:nvPr/>
        </p:nvSpPr>
        <p:spPr>
          <a:xfrm>
            <a:off x="1935693" y="1263399"/>
            <a:ext cx="15034846" cy="34619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dirty="0">
                <a:latin typeface="Times New Roman"/>
                <a:ea typeface="Calibri"/>
                <a:cs typeface="Times New Roman"/>
              </a:rPr>
              <a:t>ADVANTAGES:</a:t>
            </a:r>
          </a:p>
          <a:p>
            <a:endParaRPr lang="en-US" sz="2800" b="1" dirty="0">
              <a:latin typeface="Times New Roman"/>
              <a:ea typeface="+mn-lt"/>
              <a:cs typeface="Times New Roman"/>
            </a:endParaRPr>
          </a:p>
          <a:p>
            <a:pPr>
              <a:lnSpc>
                <a:spcPct val="150000"/>
              </a:lnSpc>
            </a:pPr>
            <a:r>
              <a:rPr lang="en-US" sz="2800" dirty="0">
                <a:latin typeface="Times New Roman"/>
                <a:ea typeface="+mn-lt"/>
                <a:cs typeface="Times New Roman"/>
              </a:rPr>
              <a:t>• Provides secure role-based authentication for structured access control.</a:t>
            </a:r>
            <a:br>
              <a:rPr lang="en-US" sz="2800" dirty="0">
                <a:latin typeface="Times New Roman"/>
                <a:ea typeface="+mn-lt"/>
                <a:cs typeface="Times New Roman"/>
              </a:rPr>
            </a:br>
            <a:r>
              <a:rPr lang="en-US" sz="2800" dirty="0">
                <a:latin typeface="Times New Roman"/>
                <a:ea typeface="+mn-lt"/>
                <a:cs typeface="Times New Roman"/>
              </a:rPr>
              <a:t>• Automates course management and enrollment approval workflow.</a:t>
            </a:r>
            <a:br>
              <a:rPr lang="en-US" sz="2800" dirty="0">
                <a:latin typeface="Times New Roman"/>
                <a:ea typeface="+mn-lt"/>
                <a:cs typeface="Times New Roman"/>
              </a:rPr>
            </a:br>
            <a:r>
              <a:rPr lang="en-US" sz="2800" dirty="0">
                <a:latin typeface="Times New Roman"/>
                <a:ea typeface="+mn-lt"/>
                <a:cs typeface="Times New Roman"/>
              </a:rPr>
              <a:t>• Enhances learning experience through AI-based course recommendation features.</a:t>
            </a:r>
            <a:br>
              <a:rPr lang="en-US" sz="2800" dirty="0">
                <a:latin typeface="Times New Roman"/>
                <a:ea typeface="+mn-lt"/>
                <a:cs typeface="Times New Roman"/>
              </a:rPr>
            </a:br>
            <a:r>
              <a:rPr lang="en-US" sz="2800" dirty="0">
                <a:latin typeface="Times New Roman"/>
                <a:ea typeface="+mn-lt"/>
                <a:cs typeface="Times New Roman"/>
              </a:rPr>
              <a:t>• Enables real-time progress tracking for effective performance monitoring.</a:t>
            </a:r>
            <a:endParaRPr lang="en-US" sz="2800" b="1" dirty="0">
              <a:latin typeface="Times New Roman"/>
              <a:ea typeface="Calibri"/>
              <a:cs typeface="Times New Roman"/>
            </a:endParaRPr>
          </a:p>
        </p:txBody>
      </p:sp>
      <p:sp>
        <p:nvSpPr>
          <p:cNvPr id="4" name="TextBox 3">
            <a:extLst>
              <a:ext uri="{FF2B5EF4-FFF2-40B4-BE49-F238E27FC236}">
                <a16:creationId xmlns:a16="http://schemas.microsoft.com/office/drawing/2014/main" id="{059CD4A3-D662-F234-92D4-4AFFD9620303}"/>
              </a:ext>
            </a:extLst>
          </p:cNvPr>
          <p:cNvSpPr txBox="1"/>
          <p:nvPr/>
        </p:nvSpPr>
        <p:spPr>
          <a:xfrm>
            <a:off x="2044211" y="5561134"/>
            <a:ext cx="14837019"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Times New Roman"/>
                <a:ea typeface="Calibri"/>
                <a:cs typeface="Times New Roman"/>
              </a:rPr>
              <a:t>LIMITATIONS :</a:t>
            </a:r>
          </a:p>
          <a:p>
            <a:endParaRPr lang="en-US" sz="2800" b="1" dirty="0">
              <a:latin typeface="Times New Roman"/>
              <a:ea typeface="Calibri"/>
              <a:cs typeface="Times New Roman"/>
            </a:endParaRPr>
          </a:p>
          <a:p>
            <a:pPr>
              <a:lnSpc>
                <a:spcPct val="150000"/>
              </a:lnSpc>
            </a:pPr>
            <a:r>
              <a:rPr lang="en-US" sz="2800" dirty="0">
                <a:latin typeface="Times New Roman"/>
                <a:ea typeface="+mn-lt"/>
                <a:cs typeface="Times New Roman"/>
              </a:rPr>
              <a:t>• The AI Study Assistant chat module is currently non-functional due to the absence of an API key for </a:t>
            </a:r>
            <a:r>
              <a:rPr lang="en-US" sz="2800">
                <a:latin typeface="Times New Roman"/>
                <a:ea typeface="+mn-lt"/>
                <a:cs typeface="Times New Roman"/>
              </a:rPr>
              <a:t>external AI service integration.</a:t>
            </a:r>
            <a:br>
              <a:rPr lang="en-US" sz="2800" dirty="0">
                <a:latin typeface="Times New Roman"/>
                <a:ea typeface="+mn-lt"/>
                <a:cs typeface="Times New Roman"/>
              </a:rPr>
            </a:br>
            <a:r>
              <a:rPr lang="en-US" sz="2800">
                <a:latin typeface="Times New Roman"/>
                <a:ea typeface="+mn-lt"/>
                <a:cs typeface="Times New Roman"/>
              </a:rPr>
              <a:t>• The system is deployed in a local environment and is not yet hosted on a cloud server.</a:t>
            </a:r>
            <a:br>
              <a:rPr lang="en-US" sz="2800" dirty="0">
                <a:latin typeface="Times New Roman"/>
                <a:ea typeface="+mn-lt"/>
                <a:cs typeface="Times New Roman"/>
              </a:rPr>
            </a:br>
            <a:r>
              <a:rPr lang="en-US" sz="2800" dirty="0">
                <a:latin typeface="Times New Roman"/>
                <a:ea typeface="+mn-lt"/>
                <a:cs typeface="Times New Roman"/>
              </a:rPr>
              <a:t> • Advanced analytics and full AI model integration are limited to prototype-level implementation.</a:t>
            </a:r>
            <a:endParaRPr lang="en-US" sz="2800" b="1">
              <a:latin typeface="Times New Roman"/>
              <a:ea typeface="Calibri"/>
              <a:cs typeface="Times New Roman"/>
            </a:endParaRPr>
          </a:p>
          <a:p>
            <a:pPr>
              <a:lnSpc>
                <a:spcPct val="150000"/>
              </a:lnSpc>
            </a:pPr>
            <a:br>
              <a:rPr lang="en-US" dirty="0"/>
            </a:br>
            <a:endParaRPr lang="en-US" dirty="0">
              <a:ea typeface="Calibri"/>
              <a:cs typeface="Calibri"/>
            </a:endParaRPr>
          </a:p>
          <a:p>
            <a:pPr marL="457200" indent="-457200">
              <a:buFont typeface="Arial"/>
              <a:buChar char="•"/>
            </a:pPr>
            <a:endParaRPr lang="en-US" sz="2800" b="1" dirty="0">
              <a:latin typeface="Times New Roman"/>
              <a:ea typeface="Calibri"/>
              <a:cs typeface="Times New Roman"/>
            </a:endParaRPr>
          </a:p>
        </p:txBody>
      </p:sp>
    </p:spTree>
    <p:extLst>
      <p:ext uri="{BB962C8B-B14F-4D97-AF65-F5344CB8AC3E}">
        <p14:creationId xmlns:p14="http://schemas.microsoft.com/office/powerpoint/2010/main" val="1838976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TotalTime>
  <Words>538</Words>
  <Application>Microsoft Office PowerPoint</Application>
  <PresentationFormat>Custom</PresentationFormat>
  <Paragraphs>324</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S Hemamalini</cp:lastModifiedBy>
  <cp:revision>394</cp:revision>
  <dcterms:created xsi:type="dcterms:W3CDTF">2006-08-16T00:00:00Z</dcterms:created>
  <dcterms:modified xsi:type="dcterms:W3CDTF">2026-03-02T06:40:14Z</dcterms:modified>
  <dc:identifier>DAHCaYqJ9OU</dc:identifier>
</cp:coreProperties>
</file>